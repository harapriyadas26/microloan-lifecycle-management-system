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2"/>
  </p:notesMasterIdLst>
  <p:handoutMasterIdLst>
    <p:handoutMasterId r:id="rId23"/>
  </p:handoutMasterIdLst>
  <p:sldIdLst>
    <p:sldId id="507" r:id="rId2"/>
    <p:sldId id="1027" r:id="rId3"/>
    <p:sldId id="1012" r:id="rId4"/>
    <p:sldId id="1013" r:id="rId5"/>
    <p:sldId id="1045" r:id="rId6"/>
    <p:sldId id="1046" r:id="rId7"/>
    <p:sldId id="1014" r:id="rId8"/>
    <p:sldId id="1015" r:id="rId9"/>
    <p:sldId id="1034" r:id="rId10"/>
    <p:sldId id="1036" r:id="rId11"/>
    <p:sldId id="1011" r:id="rId12"/>
    <p:sldId id="1033" r:id="rId13"/>
    <p:sldId id="1038" r:id="rId14"/>
    <p:sldId id="1044" r:id="rId15"/>
    <p:sldId id="1039" r:id="rId16"/>
    <p:sldId id="1040" r:id="rId17"/>
    <p:sldId id="1041" r:id="rId18"/>
    <p:sldId id="1042" r:id="rId19"/>
    <p:sldId id="1043" r:id="rId20"/>
    <p:sldId id="1025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4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Selvam" userId="d6d9795e-cb7f-4ca4-909c-a1909c828893" providerId="ADAL" clId="{77D21AA8-553F-4AB2-8C7F-3DF8ADADA90D}"/>
    <pc:docChg chg="undo custSel addSld delSld modSld">
      <pc:chgData name="M Selvam" userId="d6d9795e-cb7f-4ca4-909c-a1909c828893" providerId="ADAL" clId="{77D21AA8-553F-4AB2-8C7F-3DF8ADADA90D}" dt="2026-09-09T10:44:54.063" v="359" actId="47"/>
      <pc:docMkLst>
        <pc:docMk/>
      </pc:docMkLst>
      <pc:sldChg chg="addSp delSp modSp mod">
        <pc:chgData name="M Selvam" userId="d6d9795e-cb7f-4ca4-909c-a1909c828893" providerId="ADAL" clId="{77D21AA8-553F-4AB2-8C7F-3DF8ADADA90D}" dt="2026-09-09T09:43:21.943" v="173" actId="14100"/>
        <pc:sldMkLst>
          <pc:docMk/>
          <pc:sldMk cId="0" sldId="507"/>
        </pc:sldMkLst>
        <pc:spChg chg="mod">
          <ac:chgData name="M Selvam" userId="d6d9795e-cb7f-4ca4-909c-a1909c828893" providerId="ADAL" clId="{77D21AA8-553F-4AB2-8C7F-3DF8ADADA90D}" dt="2026-09-09T09:34:27.100" v="39" actId="20577"/>
          <ac:spMkLst>
            <pc:docMk/>
            <pc:sldMk cId="0" sldId="507"/>
            <ac:spMk id="6" creationId="{90112947-B9C2-2E92-2ED4-7AE86C45CC4F}"/>
          </ac:spMkLst>
        </pc:spChg>
        <pc:picChg chg="del">
          <ac:chgData name="M Selvam" userId="d6d9795e-cb7f-4ca4-909c-a1909c828893" providerId="ADAL" clId="{77D21AA8-553F-4AB2-8C7F-3DF8ADADA90D}" dt="2026-09-09T09:33:53.660" v="3" actId="478"/>
          <ac:picMkLst>
            <pc:docMk/>
            <pc:sldMk cId="0" sldId="507"/>
            <ac:picMk id="3" creationId="{D48BC6A5-F5D8-82C0-F28F-C70BA469D2CB}"/>
          </ac:picMkLst>
        </pc:picChg>
        <pc:picChg chg="add mod">
          <ac:chgData name="M Selvam" userId="d6d9795e-cb7f-4ca4-909c-a1909c828893" providerId="ADAL" clId="{77D21AA8-553F-4AB2-8C7F-3DF8ADADA90D}" dt="2026-09-09T09:43:21.943" v="173" actId="14100"/>
          <ac:picMkLst>
            <pc:docMk/>
            <pc:sldMk cId="0" sldId="507"/>
            <ac:picMk id="4" creationId="{9D471D20-F6B2-348C-6B60-AFE0319ECD2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26.485" v="105" actId="1076"/>
        <pc:sldMkLst>
          <pc:docMk/>
          <pc:sldMk cId="2311492942" sldId="1011"/>
        </pc:sldMkLst>
        <pc:picChg chg="del">
          <ac:chgData name="M Selvam" userId="d6d9795e-cb7f-4ca4-909c-a1909c828893" providerId="ADAL" clId="{77D21AA8-553F-4AB2-8C7F-3DF8ADADA90D}" dt="2026-09-09T09:39:16.829" v="101" actId="478"/>
          <ac:picMkLst>
            <pc:docMk/>
            <pc:sldMk cId="2311492942" sldId="1011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39:26.485" v="105" actId="1076"/>
          <ac:picMkLst>
            <pc:docMk/>
            <pc:sldMk cId="2311492942" sldId="1011"/>
            <ac:picMk id="5" creationId="{E69172F0-DC24-A9DB-0F68-54E3881FD548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36.767" v="177" actId="14100"/>
        <pc:sldMkLst>
          <pc:docMk/>
          <pc:sldMk cId="3089745817" sldId="1012"/>
        </pc:sldMkLst>
        <pc:spChg chg="add del">
          <ac:chgData name="M Selvam" userId="d6d9795e-cb7f-4ca4-909c-a1909c828893" providerId="ADAL" clId="{77D21AA8-553F-4AB2-8C7F-3DF8ADADA90D}" dt="2026-09-09T09:35:25.635" v="51" actId="34307"/>
          <ac:spMkLst>
            <pc:docMk/>
            <pc:sldMk cId="3089745817" sldId="1012"/>
            <ac:spMk id="7" creationId="{3280A4A6-FE4E-5BD7-0D80-570328273E09}"/>
          </ac:spMkLst>
        </pc:spChg>
        <pc:picChg chg="add mod">
          <ac:chgData name="M Selvam" userId="d6d9795e-cb7f-4ca4-909c-a1909c828893" providerId="ADAL" clId="{77D21AA8-553F-4AB2-8C7F-3DF8ADADA90D}" dt="2026-09-09T09:43:36.767" v="177" actId="14100"/>
          <ac:picMkLst>
            <pc:docMk/>
            <pc:sldMk cId="3089745817" sldId="1012"/>
            <ac:picMk id="2" creationId="{D046E4DE-BCE0-C9B2-CDC2-1E28119D86A3}"/>
          </ac:picMkLst>
        </pc:picChg>
        <pc:picChg chg="del">
          <ac:chgData name="M Selvam" userId="d6d9795e-cb7f-4ca4-909c-a1909c828893" providerId="ADAL" clId="{77D21AA8-553F-4AB2-8C7F-3DF8ADADA90D}" dt="2026-09-09T09:35:05.819" v="47" actId="478"/>
          <ac:picMkLst>
            <pc:docMk/>
            <pc:sldMk cId="3089745817" sldId="1012"/>
            <ac:picMk id="4" creationId="{8F4E0918-9E46-2259-4003-1C1F5C38DCA1}"/>
          </ac:picMkLst>
        </pc:picChg>
        <pc:picChg chg="add del mod ord">
          <ac:chgData name="M Selvam" userId="d6d9795e-cb7f-4ca4-909c-a1909c828893" providerId="ADAL" clId="{77D21AA8-553F-4AB2-8C7F-3DF8ADADA90D}" dt="2026-09-09T09:35:25.635" v="51" actId="34307"/>
          <ac:picMkLst>
            <pc:docMk/>
            <pc:sldMk cId="3089745817" sldId="1012"/>
            <ac:picMk id="5" creationId="{E81362B5-B35C-A88A-ADEF-51E0186485C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1.958" v="179" actId="14100"/>
        <pc:sldMkLst>
          <pc:docMk/>
          <pc:sldMk cId="95257650" sldId="1013"/>
        </pc:sldMkLst>
        <pc:picChg chg="del">
          <ac:chgData name="M Selvam" userId="d6d9795e-cb7f-4ca4-909c-a1909c828893" providerId="ADAL" clId="{77D21AA8-553F-4AB2-8C7F-3DF8ADADA90D}" dt="2026-09-09T09:35:33.573" v="52" actId="478"/>
          <ac:picMkLst>
            <pc:docMk/>
            <pc:sldMk cId="95257650" sldId="1013"/>
            <ac:picMk id="4" creationId="{2DC88E58-E75E-48AB-59FF-CADAC759042E}"/>
          </ac:picMkLst>
        </pc:picChg>
        <pc:picChg chg="add mod">
          <ac:chgData name="M Selvam" userId="d6d9795e-cb7f-4ca4-909c-a1909c828893" providerId="ADAL" clId="{77D21AA8-553F-4AB2-8C7F-3DF8ADADA90D}" dt="2026-09-09T09:43:41.958" v="179" actId="14100"/>
          <ac:picMkLst>
            <pc:docMk/>
            <pc:sldMk cId="95257650" sldId="1013"/>
            <ac:picMk id="5" creationId="{271B53F3-540A-8282-CDE9-91C7F1D75BFF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6.133" v="180" actId="14100"/>
        <pc:sldMkLst>
          <pc:docMk/>
          <pc:sldMk cId="2694801863" sldId="1014"/>
        </pc:sldMkLst>
        <pc:spChg chg="mod">
          <ac:chgData name="M Selvam" userId="d6d9795e-cb7f-4ca4-909c-a1909c828893" providerId="ADAL" clId="{77D21AA8-553F-4AB2-8C7F-3DF8ADADA90D}" dt="2026-09-09T09:36:44.870" v="68" actId="14100"/>
          <ac:spMkLst>
            <pc:docMk/>
            <pc:sldMk cId="2694801863" sldId="1014"/>
            <ac:spMk id="3" creationId="{39A6E23D-A5D8-BE38-914C-4697198F055E}"/>
          </ac:spMkLst>
        </pc:spChg>
        <pc:picChg chg="del mod">
          <ac:chgData name="M Selvam" userId="d6d9795e-cb7f-4ca4-909c-a1909c828893" providerId="ADAL" clId="{77D21AA8-553F-4AB2-8C7F-3DF8ADADA90D}" dt="2026-09-09T09:36:34.406" v="65" actId="478"/>
          <ac:picMkLst>
            <pc:docMk/>
            <pc:sldMk cId="2694801863" sldId="1014"/>
            <ac:picMk id="4" creationId="{3424A7D1-392B-981E-7690-910B416284B1}"/>
          </ac:picMkLst>
        </pc:picChg>
        <pc:picChg chg="add mod">
          <ac:chgData name="M Selvam" userId="d6d9795e-cb7f-4ca4-909c-a1909c828893" providerId="ADAL" clId="{77D21AA8-553F-4AB2-8C7F-3DF8ADADA90D}" dt="2026-09-09T09:43:46.133" v="180" actId="14100"/>
          <ac:picMkLst>
            <pc:docMk/>
            <pc:sldMk cId="2694801863" sldId="1014"/>
            <ac:picMk id="5" creationId="{47D2E993-E474-0C27-DF8A-10B6A433EC16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54.806" v="182" actId="14100"/>
        <pc:sldMkLst>
          <pc:docMk/>
          <pc:sldMk cId="695185364" sldId="1015"/>
        </pc:sldMkLst>
        <pc:spChg chg="mod">
          <ac:chgData name="M Selvam" userId="d6d9795e-cb7f-4ca4-909c-a1909c828893" providerId="ADAL" clId="{77D21AA8-553F-4AB2-8C7F-3DF8ADADA90D}" dt="2026-09-09T09:37:18.323" v="74" actId="14100"/>
          <ac:spMkLst>
            <pc:docMk/>
            <pc:sldMk cId="695185364" sldId="1015"/>
            <ac:spMk id="3" creationId="{BBD3710E-1FD6-A145-E602-76470D00842A}"/>
          </ac:spMkLst>
        </pc:spChg>
        <pc:picChg chg="del">
          <ac:chgData name="M Selvam" userId="d6d9795e-cb7f-4ca4-909c-a1909c828893" providerId="ADAL" clId="{77D21AA8-553F-4AB2-8C7F-3DF8ADADA90D}" dt="2026-09-09T09:37:08.910" v="72" actId="478"/>
          <ac:picMkLst>
            <pc:docMk/>
            <pc:sldMk cId="695185364" sldId="1015"/>
            <ac:picMk id="4" creationId="{1660B1F0-D8A2-D976-9BE1-AD077549641E}"/>
          </ac:picMkLst>
        </pc:picChg>
        <pc:picChg chg="add mod">
          <ac:chgData name="M Selvam" userId="d6d9795e-cb7f-4ca4-909c-a1909c828893" providerId="ADAL" clId="{77D21AA8-553F-4AB2-8C7F-3DF8ADADA90D}" dt="2026-09-09T09:43:54.806" v="182" actId="14100"/>
          <ac:picMkLst>
            <pc:docMk/>
            <pc:sldMk cId="695185364" sldId="1015"/>
            <ac:picMk id="5" creationId="{24488C9D-2D30-3125-69F0-8049573055B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2:03.118" v="149" actId="14100"/>
        <pc:sldMkLst>
          <pc:docMk/>
          <pc:sldMk cId="3377631291" sldId="1025"/>
        </pc:sldMkLst>
        <pc:picChg chg="del">
          <ac:chgData name="M Selvam" userId="d6d9795e-cb7f-4ca4-909c-a1909c828893" providerId="ADAL" clId="{77D21AA8-553F-4AB2-8C7F-3DF8ADADA90D}" dt="2026-09-09T09:41:46.220" v="143" actId="478"/>
          <ac:picMkLst>
            <pc:docMk/>
            <pc:sldMk cId="3377631291" sldId="1025"/>
            <ac:picMk id="4" creationId="{530DEA0B-E191-D187-0E57-F98A779E2687}"/>
          </ac:picMkLst>
        </pc:picChg>
        <pc:picChg chg="add mod">
          <ac:chgData name="M Selvam" userId="d6d9795e-cb7f-4ca4-909c-a1909c828893" providerId="ADAL" clId="{77D21AA8-553F-4AB2-8C7F-3DF8ADADA90D}" dt="2026-09-09T09:42:03.118" v="149" actId="14100"/>
          <ac:picMkLst>
            <pc:docMk/>
            <pc:sldMk cId="3377631291" sldId="1025"/>
            <ac:picMk id="5" creationId="{9614CC03-5AC2-8C76-DAFE-BA60BA1CF8F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48.172" v="111" actId="1076"/>
        <pc:sldMkLst>
          <pc:docMk/>
          <pc:sldMk cId="1406624847" sldId="1026"/>
        </pc:sldMkLst>
        <pc:spChg chg="mod">
          <ac:chgData name="M Selvam" userId="d6d9795e-cb7f-4ca4-909c-a1909c828893" providerId="ADAL" clId="{77D21AA8-553F-4AB2-8C7F-3DF8ADADA90D}" dt="2026-09-09T09:39:35.588" v="107" actId="14100"/>
          <ac:spMkLst>
            <pc:docMk/>
            <pc:sldMk cId="1406624847" sldId="1026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39:29.769" v="106" actId="478"/>
          <ac:picMkLst>
            <pc:docMk/>
            <pc:sldMk cId="1406624847" sldId="1026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39:48.172" v="111" actId="1076"/>
          <ac:picMkLst>
            <pc:docMk/>
            <pc:sldMk cId="1406624847" sldId="1026"/>
            <ac:picMk id="5" creationId="{E315328B-2062-6B94-DEDE-8CFD1B404E8E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29.255" v="175" actId="1076"/>
        <pc:sldMkLst>
          <pc:docMk/>
          <pc:sldMk cId="2893977295" sldId="1027"/>
        </pc:sldMkLst>
        <pc:spChg chg="mod">
          <ac:chgData name="M Selvam" userId="d6d9795e-cb7f-4ca4-909c-a1909c828893" providerId="ADAL" clId="{77D21AA8-553F-4AB2-8C7F-3DF8ADADA90D}" dt="2026-09-09T09:36:12.511" v="63" actId="1076"/>
          <ac:spMkLst>
            <pc:docMk/>
            <pc:sldMk cId="2893977295" sldId="1027"/>
            <ac:spMk id="3" creationId="{68C7B745-FF8F-90D5-CAD4-FE7D38645D69}"/>
          </ac:spMkLst>
        </pc:spChg>
        <pc:spChg chg="add del mod">
          <ac:chgData name="M Selvam" userId="d6d9795e-cb7f-4ca4-909c-a1909c828893" providerId="ADAL" clId="{77D21AA8-553F-4AB2-8C7F-3DF8ADADA90D}" dt="2026-09-09T09:35:03.462" v="46"/>
          <ac:spMkLst>
            <pc:docMk/>
            <pc:sldMk cId="2893977295" sldId="1027"/>
            <ac:spMk id="6" creationId="{F1B3039F-7EA2-E227-9D02-F0E6BED42A64}"/>
          </ac:spMkLst>
        </pc:spChg>
        <pc:picChg chg="del">
          <ac:chgData name="M Selvam" userId="d6d9795e-cb7f-4ca4-909c-a1909c828893" providerId="ADAL" clId="{77D21AA8-553F-4AB2-8C7F-3DF8ADADA90D}" dt="2026-09-09T09:34:34.405" v="40" actId="478"/>
          <ac:picMkLst>
            <pc:docMk/>
            <pc:sldMk cId="2893977295" sldId="1027"/>
            <ac:picMk id="4" creationId="{E26EF467-3DED-5C3E-3710-75BDCDED7288}"/>
          </ac:picMkLst>
        </pc:picChg>
        <pc:picChg chg="add mod">
          <ac:chgData name="M Selvam" userId="d6d9795e-cb7f-4ca4-909c-a1909c828893" providerId="ADAL" clId="{77D21AA8-553F-4AB2-8C7F-3DF8ADADA90D}" dt="2026-09-09T09:43:29.255" v="175" actId="1076"/>
          <ac:picMkLst>
            <pc:docMk/>
            <pc:sldMk cId="2893977295" sldId="1027"/>
            <ac:picMk id="5" creationId="{81FBD98C-77FA-F4F3-D8D1-E351DADE67A3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24.793" v="188" actId="14100"/>
        <pc:sldMkLst>
          <pc:docMk/>
          <pc:sldMk cId="4197773981" sldId="1033"/>
        </pc:sldMkLst>
        <pc:picChg chg="del">
          <ac:chgData name="M Selvam" userId="d6d9795e-cb7f-4ca4-909c-a1909c828893" providerId="ADAL" clId="{77D21AA8-553F-4AB2-8C7F-3DF8ADADA90D}" dt="2026-09-09T09:39:52.545" v="112" actId="478"/>
          <ac:picMkLst>
            <pc:docMk/>
            <pc:sldMk cId="4197773981" sldId="1033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4:24.793" v="188" actId="14100"/>
          <ac:picMkLst>
            <pc:docMk/>
            <pc:sldMk cId="4197773981" sldId="1033"/>
            <ac:picMk id="5" creationId="{09455320-2D9F-FA39-6651-A4D0ED124F51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0.668" v="184" actId="14100"/>
        <pc:sldMkLst>
          <pc:docMk/>
          <pc:sldMk cId="3239980978" sldId="1034"/>
        </pc:sldMkLst>
        <pc:spChg chg="mod">
          <ac:chgData name="M Selvam" userId="d6d9795e-cb7f-4ca4-909c-a1909c828893" providerId="ADAL" clId="{77D21AA8-553F-4AB2-8C7F-3DF8ADADA90D}" dt="2026-09-09T09:37:38.069" v="79" actId="14100"/>
          <ac:spMkLst>
            <pc:docMk/>
            <pc:sldMk cId="3239980978" sldId="1034"/>
            <ac:spMk id="3" creationId="{E0A18EB9-D0B2-3DF1-D33D-B8F4D4C25F3A}"/>
          </ac:spMkLst>
        </pc:spChg>
        <pc:picChg chg="del">
          <ac:chgData name="M Selvam" userId="d6d9795e-cb7f-4ca4-909c-a1909c828893" providerId="ADAL" clId="{77D21AA8-553F-4AB2-8C7F-3DF8ADADA90D}" dt="2026-09-09T09:37:33.516" v="78" actId="478"/>
          <ac:picMkLst>
            <pc:docMk/>
            <pc:sldMk cId="3239980978" sldId="1034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44:00.668" v="184" actId="14100"/>
          <ac:picMkLst>
            <pc:docMk/>
            <pc:sldMk cId="3239980978" sldId="1034"/>
            <ac:picMk id="5" creationId="{C9FE1904-C542-AA1E-2C15-5A81417C962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06.414" v="169" actId="14100"/>
        <pc:sldMkLst>
          <pc:docMk/>
          <pc:sldMk cId="3059570066" sldId="1035"/>
        </pc:sldMkLst>
        <pc:spChg chg="mod">
          <ac:chgData name="M Selvam" userId="d6d9795e-cb7f-4ca4-909c-a1909c828893" providerId="ADAL" clId="{77D21AA8-553F-4AB2-8C7F-3DF8ADADA90D}" dt="2026-09-09T09:42:53.443" v="164" actId="14100"/>
          <ac:spMkLst>
            <pc:docMk/>
            <pc:sldMk cId="3059570066" sldId="1035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42:48.747" v="163" actId="478"/>
          <ac:picMkLst>
            <pc:docMk/>
            <pc:sldMk cId="3059570066" sldId="1035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3:06.414" v="169" actId="14100"/>
          <ac:picMkLst>
            <pc:docMk/>
            <pc:sldMk cId="3059570066" sldId="1035"/>
            <ac:picMk id="5" creationId="{EF45E307-6A9E-5159-8B35-ADF54C10968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8.883" v="186" actId="14100"/>
        <pc:sldMkLst>
          <pc:docMk/>
          <pc:sldMk cId="1532967047" sldId="1036"/>
        </pc:sldMkLst>
        <pc:picChg chg="del">
          <ac:chgData name="M Selvam" userId="d6d9795e-cb7f-4ca4-909c-a1909c828893" providerId="ADAL" clId="{77D21AA8-553F-4AB2-8C7F-3DF8ADADA90D}" dt="2026-09-09T09:38:20.900" v="86" actId="478"/>
          <ac:picMkLst>
            <pc:docMk/>
            <pc:sldMk cId="1532967047" sldId="1036"/>
            <ac:picMk id="4" creationId="{6F302A27-548C-EB9F-75AC-04869664022C}"/>
          </ac:picMkLst>
        </pc:picChg>
        <pc:picChg chg="add mod">
          <ac:chgData name="M Selvam" userId="d6d9795e-cb7f-4ca4-909c-a1909c828893" providerId="ADAL" clId="{77D21AA8-553F-4AB2-8C7F-3DF8ADADA90D}" dt="2026-09-09T09:44:08.883" v="186" actId="14100"/>
          <ac:picMkLst>
            <pc:docMk/>
            <pc:sldMk cId="1532967047" sldId="1036"/>
            <ac:picMk id="5" creationId="{8EAABE41-1A78-C313-15FA-4DAE2C1B936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13.574" v="187" actId="14100"/>
        <pc:sldMkLst>
          <pc:docMk/>
          <pc:sldMk cId="1613146428" sldId="1037"/>
        </pc:sldMkLst>
        <pc:spChg chg="add del">
          <ac:chgData name="M Selvam" userId="d6d9795e-cb7f-4ca4-909c-a1909c828893" providerId="ADAL" clId="{77D21AA8-553F-4AB2-8C7F-3DF8ADADA90D}" dt="2026-09-09T09:38:57.800" v="95"/>
          <ac:spMkLst>
            <pc:docMk/>
            <pc:sldMk cId="1613146428" sldId="1037"/>
            <ac:spMk id="2" creationId="{F5E6F616-BA4B-81FE-2F89-F371C90508B7}"/>
          </ac:spMkLst>
        </pc:spChg>
        <pc:spChg chg="mod">
          <ac:chgData name="M Selvam" userId="d6d9795e-cb7f-4ca4-909c-a1909c828893" providerId="ADAL" clId="{77D21AA8-553F-4AB2-8C7F-3DF8ADADA90D}" dt="2026-09-09T09:38:52.884" v="93" actId="14100"/>
          <ac:spMkLst>
            <pc:docMk/>
            <pc:sldMk cId="1613146428" sldId="1037"/>
            <ac:spMk id="3" creationId="{DF291E41-CF58-74B2-9E5F-75768CDC9158}"/>
          </ac:spMkLst>
        </pc:spChg>
        <pc:picChg chg="del mod">
          <ac:chgData name="M Selvam" userId="d6d9795e-cb7f-4ca4-909c-a1909c828893" providerId="ADAL" clId="{77D21AA8-553F-4AB2-8C7F-3DF8ADADA90D}" dt="2026-09-09T09:38:47.894" v="92" actId="478"/>
          <ac:picMkLst>
            <pc:docMk/>
            <pc:sldMk cId="1613146428" sldId="1037"/>
            <ac:picMk id="4" creationId="{C22FD9CF-9FEC-A241-0CC4-FD113EF594D4}"/>
          </ac:picMkLst>
        </pc:picChg>
        <pc:picChg chg="add mod">
          <ac:chgData name="M Selvam" userId="d6d9795e-cb7f-4ca4-909c-a1909c828893" providerId="ADAL" clId="{77D21AA8-553F-4AB2-8C7F-3DF8ADADA90D}" dt="2026-09-09T09:38:57.800" v="95"/>
          <ac:picMkLst>
            <pc:docMk/>
            <pc:sldMk cId="1613146428" sldId="1037"/>
            <ac:picMk id="5" creationId="{BB8AD62B-6EA9-E005-B618-9B63878987AA}"/>
          </ac:picMkLst>
        </pc:picChg>
        <pc:picChg chg="add mod">
          <ac:chgData name="M Selvam" userId="d6d9795e-cb7f-4ca4-909c-a1909c828893" providerId="ADAL" clId="{77D21AA8-553F-4AB2-8C7F-3DF8ADADA90D}" dt="2026-09-09T09:44:13.574" v="187" actId="14100"/>
          <ac:picMkLst>
            <pc:docMk/>
            <pc:sldMk cId="1613146428" sldId="1037"/>
            <ac:picMk id="6" creationId="{4321D194-BF7A-AFFD-A853-AAA15D97525B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0:22.150" v="122" actId="1076"/>
        <pc:sldMkLst>
          <pc:docMk/>
          <pc:sldMk cId="2661305800" sldId="1038"/>
        </pc:sldMkLst>
        <pc:picChg chg="del">
          <ac:chgData name="M Selvam" userId="d6d9795e-cb7f-4ca4-909c-a1909c828893" providerId="ADAL" clId="{77D21AA8-553F-4AB2-8C7F-3DF8ADADA90D}" dt="2026-09-09T09:40:10.567" v="118" actId="478"/>
          <ac:picMkLst>
            <pc:docMk/>
            <pc:sldMk cId="2661305800" sldId="1038"/>
            <ac:picMk id="4" creationId="{C5D421F7-34F6-B423-BD32-6AFD7732491C}"/>
          </ac:picMkLst>
        </pc:picChg>
        <pc:picChg chg="add mod">
          <ac:chgData name="M Selvam" userId="d6d9795e-cb7f-4ca4-909c-a1909c828893" providerId="ADAL" clId="{77D21AA8-553F-4AB2-8C7F-3DF8ADADA90D}" dt="2026-09-09T09:40:22.150" v="122" actId="1076"/>
          <ac:picMkLst>
            <pc:docMk/>
            <pc:sldMk cId="2661305800" sldId="1038"/>
            <ac:picMk id="5" creationId="{69E31CD9-0893-71CD-A52F-CE13AF034AA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00.577" v="129" actId="1076"/>
        <pc:sldMkLst>
          <pc:docMk/>
          <pc:sldMk cId="3151414207" sldId="1039"/>
        </pc:sldMkLst>
        <pc:spChg chg="mod">
          <ac:chgData name="M Selvam" userId="d6d9795e-cb7f-4ca4-909c-a1909c828893" providerId="ADAL" clId="{77D21AA8-553F-4AB2-8C7F-3DF8ADADA90D}" dt="2026-09-09T09:40:49.037" v="124" actId="14100"/>
          <ac:spMkLst>
            <pc:docMk/>
            <pc:sldMk cId="3151414207" sldId="1039"/>
            <ac:spMk id="3" creationId="{ED121F08-AD64-6706-BBF1-E99AD8E172AB}"/>
          </ac:spMkLst>
        </pc:spChg>
        <pc:picChg chg="del">
          <ac:chgData name="M Selvam" userId="d6d9795e-cb7f-4ca4-909c-a1909c828893" providerId="ADAL" clId="{77D21AA8-553F-4AB2-8C7F-3DF8ADADA90D}" dt="2026-09-09T09:40:40.759" v="123" actId="478"/>
          <ac:picMkLst>
            <pc:docMk/>
            <pc:sldMk cId="3151414207" sldId="1039"/>
            <ac:picMk id="4" creationId="{4B688A92-D094-DFA8-C37F-55F638A100ED}"/>
          </ac:picMkLst>
        </pc:picChg>
        <pc:picChg chg="add mod">
          <ac:chgData name="M Selvam" userId="d6d9795e-cb7f-4ca4-909c-a1909c828893" providerId="ADAL" clId="{77D21AA8-553F-4AB2-8C7F-3DF8ADADA90D}" dt="2026-09-09T09:41:00.577" v="129" actId="1076"/>
          <ac:picMkLst>
            <pc:docMk/>
            <pc:sldMk cId="3151414207" sldId="1039"/>
            <ac:picMk id="5" creationId="{5E41F741-6C92-DBA8-8287-DCADD1E7CA3D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21.724" v="136" actId="14100"/>
        <pc:sldMkLst>
          <pc:docMk/>
          <pc:sldMk cId="3424103010" sldId="1040"/>
        </pc:sldMkLst>
        <pc:picChg chg="del">
          <ac:chgData name="M Selvam" userId="d6d9795e-cb7f-4ca4-909c-a1909c828893" providerId="ADAL" clId="{77D21AA8-553F-4AB2-8C7F-3DF8ADADA90D}" dt="2026-09-09T09:41:05.040" v="130" actId="478"/>
          <ac:picMkLst>
            <pc:docMk/>
            <pc:sldMk cId="3424103010" sldId="1040"/>
            <ac:picMk id="4" creationId="{C4D81696-053B-0369-CCCB-94A69D7BFF89}"/>
          </ac:picMkLst>
        </pc:picChg>
        <pc:picChg chg="add mod">
          <ac:chgData name="M Selvam" userId="d6d9795e-cb7f-4ca4-909c-a1909c828893" providerId="ADAL" clId="{77D21AA8-553F-4AB2-8C7F-3DF8ADADA90D}" dt="2026-09-09T09:41:21.724" v="136" actId="14100"/>
          <ac:picMkLst>
            <pc:docMk/>
            <pc:sldMk cId="3424103010" sldId="1040"/>
            <ac:picMk id="5" creationId="{34E27D2C-6F90-7DF9-AB19-4F214FE76D09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3:17.269" v="278" actId="20577"/>
        <pc:sldMkLst>
          <pc:docMk/>
          <pc:sldMk cId="4207118935" sldId="1041"/>
        </pc:sldMkLst>
        <pc:spChg chg="mod">
          <ac:chgData name="M Selvam" userId="d6d9795e-cb7f-4ca4-909c-a1909c828893" providerId="ADAL" clId="{77D21AA8-553F-4AB2-8C7F-3DF8ADADA90D}" dt="2026-09-09T10:43:17.269" v="278" actId="20577"/>
          <ac:spMkLst>
            <pc:docMk/>
            <pc:sldMk cId="4207118935" sldId="1041"/>
            <ac:spMk id="3" creationId="{69625804-55EE-9262-0513-B15AAAE3703A}"/>
          </ac:spMkLst>
        </pc:spChg>
        <pc:picChg chg="del">
          <ac:chgData name="M Selvam" userId="d6d9795e-cb7f-4ca4-909c-a1909c828893" providerId="ADAL" clId="{77D21AA8-553F-4AB2-8C7F-3DF8ADADA90D}" dt="2026-09-09T09:41:28.323" v="137" actId="478"/>
          <ac:picMkLst>
            <pc:docMk/>
            <pc:sldMk cId="4207118935" sldId="1041"/>
            <ac:picMk id="4" creationId="{C41EDFA5-D4F7-CF5E-05CA-F1D090EE9A81}"/>
          </ac:picMkLst>
        </pc:picChg>
        <pc:picChg chg="add mod">
          <ac:chgData name="M Selvam" userId="d6d9795e-cb7f-4ca4-909c-a1909c828893" providerId="ADAL" clId="{77D21AA8-553F-4AB2-8C7F-3DF8ADADA90D}" dt="2026-09-09T09:41:41.475" v="142" actId="14100"/>
          <ac:picMkLst>
            <pc:docMk/>
            <pc:sldMk cId="4207118935" sldId="1041"/>
            <ac:picMk id="5" creationId="{81A1E605-EF66-503F-9EFE-62349AAAD9CE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26.372" v="334" actId="20577"/>
        <pc:sldMkLst>
          <pc:docMk/>
          <pc:sldMk cId="3059336372" sldId="1042"/>
        </pc:sldMkLst>
        <pc:spChg chg="mod">
          <ac:chgData name="M Selvam" userId="d6d9795e-cb7f-4ca4-909c-a1909c828893" providerId="ADAL" clId="{77D21AA8-553F-4AB2-8C7F-3DF8ADADA90D}" dt="2026-09-09T10:44:26.372" v="334" actId="20577"/>
          <ac:spMkLst>
            <pc:docMk/>
            <pc:sldMk cId="3059336372" sldId="1042"/>
            <ac:spMk id="3" creationId="{D11D1431-CBB1-2E8B-9D61-C266D7E354F4}"/>
          </ac:spMkLst>
        </pc:spChg>
        <pc:picChg chg="del">
          <ac:chgData name="M Selvam" userId="d6d9795e-cb7f-4ca4-909c-a1909c828893" providerId="ADAL" clId="{77D21AA8-553F-4AB2-8C7F-3DF8ADADA90D}" dt="2026-09-09T09:42:08.347" v="150" actId="478"/>
          <ac:picMkLst>
            <pc:docMk/>
            <pc:sldMk cId="3059336372" sldId="1042"/>
            <ac:picMk id="4" creationId="{B7BACBCA-7175-4B4F-1E27-85287EF57161}"/>
          </ac:picMkLst>
        </pc:picChg>
        <pc:picChg chg="add mod">
          <ac:chgData name="M Selvam" userId="d6d9795e-cb7f-4ca4-909c-a1909c828893" providerId="ADAL" clId="{77D21AA8-553F-4AB2-8C7F-3DF8ADADA90D}" dt="2026-09-09T09:42:19.030" v="154" actId="1076"/>
          <ac:picMkLst>
            <pc:docMk/>
            <pc:sldMk cId="3059336372" sldId="1042"/>
            <ac:picMk id="5" creationId="{EC9D29C0-805E-09D5-FBBC-105D2D7A27FA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44.818" v="358" actId="20577"/>
        <pc:sldMkLst>
          <pc:docMk/>
          <pc:sldMk cId="2649194420" sldId="1043"/>
        </pc:sldMkLst>
        <pc:spChg chg="mod">
          <ac:chgData name="M Selvam" userId="d6d9795e-cb7f-4ca4-909c-a1909c828893" providerId="ADAL" clId="{77D21AA8-553F-4AB2-8C7F-3DF8ADADA90D}" dt="2026-09-09T10:44:44.818" v="358" actId="20577"/>
          <ac:spMkLst>
            <pc:docMk/>
            <pc:sldMk cId="2649194420" sldId="1043"/>
            <ac:spMk id="3" creationId="{BFD1F075-A6AF-DC0E-0383-CB3781E97989}"/>
          </ac:spMkLst>
        </pc:spChg>
        <pc:picChg chg="del">
          <ac:chgData name="M Selvam" userId="d6d9795e-cb7f-4ca4-909c-a1909c828893" providerId="ADAL" clId="{77D21AA8-553F-4AB2-8C7F-3DF8ADADA90D}" dt="2026-09-09T09:42:22.604" v="155" actId="478"/>
          <ac:picMkLst>
            <pc:docMk/>
            <pc:sldMk cId="2649194420" sldId="1043"/>
            <ac:picMk id="4" creationId="{18FD9FB3-6EC2-DEB2-9BE4-5349E73E5C4A}"/>
          </ac:picMkLst>
        </pc:picChg>
        <pc:picChg chg="add mod">
          <ac:chgData name="M Selvam" userId="d6d9795e-cb7f-4ca4-909c-a1909c828893" providerId="ADAL" clId="{77D21AA8-553F-4AB2-8C7F-3DF8ADADA90D}" dt="2026-09-09T09:42:42.897" v="162" actId="14100"/>
          <ac:picMkLst>
            <pc:docMk/>
            <pc:sldMk cId="2649194420" sldId="1043"/>
            <ac:picMk id="5" creationId="{CD3C8A54-DB36-4EFB-9F5E-BC062E18F093}"/>
          </ac:picMkLst>
        </pc:picChg>
      </pc:sldChg>
      <pc:sldChg chg="modSp add mod">
        <pc:chgData name="M Selvam" userId="d6d9795e-cb7f-4ca4-909c-a1909c828893" providerId="ADAL" clId="{77D21AA8-553F-4AB2-8C7F-3DF8ADADA90D}" dt="2026-09-09T10:42:46.846" v="218" actId="20577"/>
        <pc:sldMkLst>
          <pc:docMk/>
          <pc:sldMk cId="2150593120" sldId="1044"/>
        </pc:sldMkLst>
        <pc:spChg chg="mod">
          <ac:chgData name="M Selvam" userId="d6d9795e-cb7f-4ca4-909c-a1909c828893" providerId="ADAL" clId="{77D21AA8-553F-4AB2-8C7F-3DF8ADADA90D}" dt="2026-09-09T10:42:46.846" v="218" actId="20577"/>
          <ac:spMkLst>
            <pc:docMk/>
            <pc:sldMk cId="2150593120" sldId="1044"/>
            <ac:spMk id="3" creationId="{A32D421F-1615-2669-0698-211111DAE13D}"/>
          </ac:spMkLst>
        </pc:spChg>
      </pc:sldChg>
      <pc:sldChg chg="modSp add mod">
        <pc:chgData name="M Selvam" userId="d6d9795e-cb7f-4ca4-909c-a1909c828893" providerId="ADAL" clId="{77D21AA8-553F-4AB2-8C7F-3DF8ADADA90D}" dt="2026-09-09T10:43:04.298" v="256" actId="20577"/>
        <pc:sldMkLst>
          <pc:docMk/>
          <pc:sldMk cId="3967463539" sldId="1045"/>
        </pc:sldMkLst>
        <pc:spChg chg="mod">
          <ac:chgData name="M Selvam" userId="d6d9795e-cb7f-4ca4-909c-a1909c828893" providerId="ADAL" clId="{77D21AA8-553F-4AB2-8C7F-3DF8ADADA90D}" dt="2026-09-09T10:43:04.298" v="256" actId="20577"/>
          <ac:spMkLst>
            <pc:docMk/>
            <pc:sldMk cId="3967463539" sldId="1045"/>
            <ac:spMk id="3" creationId="{64961CD4-3E10-98EF-AD19-1669748F6FCB}"/>
          </ac:spMkLst>
        </pc:spChg>
      </pc:sldChg>
      <pc:sldChg chg="add del">
        <pc:chgData name="M Selvam" userId="d6d9795e-cb7f-4ca4-909c-a1909c828893" providerId="ADAL" clId="{77D21AA8-553F-4AB2-8C7F-3DF8ADADA90D}" dt="2026-09-09T10:44:54.063" v="359" actId="47"/>
        <pc:sldMkLst>
          <pc:docMk/>
          <pc:sldMk cId="2190406105" sldId="10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86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2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8/QRFM-03-2017-0018" TargetMode="External"/><Relationship Id="rId13" Type="http://schemas.openxmlformats.org/officeDocument/2006/relationships/hyperlink" Target="https://doi.org/10.1016/j.eswa.2020.113766" TargetMode="External"/><Relationship Id="rId3" Type="http://schemas.openxmlformats.org/officeDocument/2006/relationships/hyperlink" Target="https://doi.org/10.1016/j.eswa.2013.06.031" TargetMode="External"/><Relationship Id="rId7" Type="http://schemas.openxmlformats.org/officeDocument/2006/relationships/hyperlink" Target="https://doi.org/10.1016/j.ijforecast.2021.05.009" TargetMode="External"/><Relationship Id="rId12" Type="http://schemas.openxmlformats.org/officeDocument/2006/relationships/hyperlink" Target="https://doi.org/10.1016/j.chieco.2023.102010" TargetMode="External"/><Relationship Id="rId2" Type="http://schemas.openxmlformats.org/officeDocument/2006/relationships/hyperlink" Target="https://doi.org/10.1016/j.procs.2019.01.0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233/IDA-184239" TargetMode="External"/><Relationship Id="rId11" Type="http://schemas.openxmlformats.org/officeDocument/2006/relationships/hyperlink" Target="https://doi.org/10.1016/j.irfa.2021.101971" TargetMode="External"/><Relationship Id="rId5" Type="http://schemas.openxmlformats.org/officeDocument/2006/relationships/hyperlink" Target="https://doi.org/10.1016/j.jclepro.2015.09.103" TargetMode="External"/><Relationship Id="rId10" Type="http://schemas.openxmlformats.org/officeDocument/2006/relationships/hyperlink" Target="https://doi.org/10.1016/j.qref.2016.02.009" TargetMode="External"/><Relationship Id="rId4" Type="http://schemas.openxmlformats.org/officeDocument/2006/relationships/hyperlink" Target="https://doi.org/10.1002/ijfe.444" TargetMode="External"/><Relationship Id="rId9" Type="http://schemas.openxmlformats.org/officeDocument/2006/relationships/hyperlink" Target="https://doi.org/10.1016/j.rfe.2016.05.005" TargetMode="External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=""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4" y="1652276"/>
            <a:ext cx="10573331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defRPr/>
            </a:pPr>
            <a:r>
              <a:rPr lang="en-IN" sz="2600" b="1" dirty="0">
                <a:solidFill>
                  <a:schemeClr val="tx1"/>
                </a:solidFill>
                <a:latin typeface="Times New Roman"/>
                <a:cs typeface="Times New Roman"/>
              </a:rPr>
              <a:t>Team Members: 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 </a:t>
            </a:r>
            <a:r>
              <a:rPr lang="en-IN" sz="2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Harapriya</a:t>
            </a: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  - 2411021061391</a:t>
            </a:r>
            <a:b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2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 </a:t>
            </a:r>
            <a:r>
              <a:rPr lang="en-IN" sz="26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Sangameshwar</a:t>
            </a: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- 2411021061390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Sandhyarani</a:t>
            </a: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- 2411021061361</a:t>
            </a:r>
            <a:b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Rakshitha</a:t>
            </a:r>
            <a:r>
              <a:rPr lang="en-IN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    - 2411021061313</a:t>
            </a:r>
            <a:r>
              <a:rPr lang="en-IN" dirty="0">
                <a:solidFill>
                  <a:schemeClr val="tx1"/>
                </a:solidFill>
                <a:latin typeface="Times New Roman"/>
                <a:cs typeface="Times New Roman"/>
              </a:rPr>
              <a:t>	</a:t>
            </a:r>
          </a:p>
          <a:p>
            <a:pPr lvl="1" algn="just"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IN" sz="2600" b="1" dirty="0">
                <a:solidFill>
                  <a:schemeClr val="tx1"/>
                </a:solidFill>
                <a:latin typeface="Times New Roman"/>
                <a:cs typeface="Times New Roman"/>
              </a:rPr>
              <a:t>Name of the Mentor:</a:t>
            </a:r>
            <a:r>
              <a:rPr lang="en-IN" dirty="0">
                <a:latin typeface="Times New Roman"/>
                <a:cs typeface="Times New Roman"/>
              </a:rPr>
              <a:t> </a:t>
            </a:r>
            <a:r>
              <a:rPr lang="en-IN" sz="2600" dirty="0" err="1" smtClean="0">
                <a:solidFill>
                  <a:schemeClr val="tx1"/>
                </a:solidFill>
                <a:latin typeface="Times New Roman"/>
                <a:cs typeface="Times New Roman"/>
              </a:rPr>
              <a:t>Dr.</a:t>
            </a:r>
            <a:r>
              <a:rPr lang="en-IN" sz="2600" dirty="0" smtClean="0">
                <a:solidFill>
                  <a:schemeClr val="tx1"/>
                </a:solidFill>
                <a:latin typeface="Times New Roman"/>
                <a:cs typeface="Times New Roman"/>
              </a:rPr>
              <a:t> T. </a:t>
            </a:r>
            <a:r>
              <a:rPr lang="en-IN" sz="2600" dirty="0" err="1" smtClean="0">
                <a:solidFill>
                  <a:schemeClr val="tx1"/>
                </a:solidFill>
                <a:latin typeface="Times New Roman"/>
                <a:cs typeface="Times New Roman"/>
              </a:rPr>
              <a:t>Prasanth</a:t>
            </a:r>
            <a:endParaRPr lang="en-IN" sz="2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2600" b="1" dirty="0" smtClean="0">
                <a:solidFill>
                  <a:schemeClr val="tx1"/>
                </a:solidFill>
                <a:latin typeface="Bookman Old Style"/>
              </a:rPr>
              <a:t>E1CSA313- </a:t>
            </a:r>
            <a:r>
              <a:rPr lang="en-US" sz="2600" b="1" dirty="0">
                <a:solidFill>
                  <a:schemeClr val="tx1"/>
                </a:solidFill>
                <a:latin typeface="Bookman Old Style"/>
              </a:rPr>
              <a:t>Design Project -1 </a:t>
            </a:r>
          </a:p>
          <a:p>
            <a:endParaRPr lang="en-IN" dirty="0"/>
          </a:p>
        </p:txBody>
      </p:sp>
      <p:sp>
        <p:nvSpPr>
          <p:cNvPr id="2" name="Subtitle 5">
            <a:extLst>
              <a:ext uri="{FF2B5EF4-FFF2-40B4-BE49-F238E27FC236}">
                <a16:creationId xmlns=""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205308" y="286697"/>
            <a:ext cx="8432506" cy="9542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 Loan Lifecycle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Management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for Micro-Loans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</a:pPr>
            <a:endParaRPr lang="en-IN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 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914400" lvl="1" indent="-514350">
              <a:buAutoNum type="alphaL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85" y="134449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279634" y="816019"/>
            <a:ext cx="11027902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Loan Lifecycle Management System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 application that manages a micro-loan from application to repayment or default.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micro-loan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small loan provided for personal, emergency, educational, or small-business needs.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Borrowers can register, create a profile, apply for a loan, and track its status online.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risk evaluation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income, loan amount, existing obligations, and repayment capacity.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review applications and approve or reject loans based on borrower details and risk results.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approved loans, the system creates a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repayment schedule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tracks payments and outstanding balances, identifies overdue instalments, and flags potential defaults.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admin dashboard provides a complete view of applications, active loans, repayments, overdue payments, and default risks.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9" y="0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4690"/>
              </p:ext>
            </p:extLst>
          </p:nvPr>
        </p:nvGraphicFramePr>
        <p:xfrm>
          <a:off x="283030" y="731244"/>
          <a:ext cx="11742963" cy="5857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986">
                  <a:extLst>
                    <a:ext uri="{9D8B030D-6E8A-4147-A177-3AD203B41FA5}">
                      <a16:colId xmlns="" xmlns:a16="http://schemas.microsoft.com/office/drawing/2014/main" val="3476363090"/>
                    </a:ext>
                  </a:extLst>
                </a:gridCol>
                <a:gridCol w="2668698">
                  <a:extLst>
                    <a:ext uri="{9D8B030D-6E8A-4147-A177-3AD203B41FA5}">
                      <a16:colId xmlns="" xmlns:a16="http://schemas.microsoft.com/office/drawing/2014/main" val="3690190586"/>
                    </a:ext>
                  </a:extLst>
                </a:gridCol>
                <a:gridCol w="2326417">
                  <a:extLst>
                    <a:ext uri="{9D8B030D-6E8A-4147-A177-3AD203B41FA5}">
                      <a16:colId xmlns="" xmlns:a16="http://schemas.microsoft.com/office/drawing/2014/main" val="363996245"/>
                    </a:ext>
                  </a:extLst>
                </a:gridCol>
                <a:gridCol w="1900216">
                  <a:extLst>
                    <a:ext uri="{9D8B030D-6E8A-4147-A177-3AD203B41FA5}">
                      <a16:colId xmlns="" xmlns:a16="http://schemas.microsoft.com/office/drawing/2014/main" val="3098826648"/>
                    </a:ext>
                  </a:extLst>
                </a:gridCol>
                <a:gridCol w="2093095">
                  <a:extLst>
                    <a:ext uri="{9D8B030D-6E8A-4147-A177-3AD203B41FA5}">
                      <a16:colId xmlns="" xmlns:a16="http://schemas.microsoft.com/office/drawing/2014/main" val="646655925"/>
                    </a:ext>
                  </a:extLst>
                </a:gridCol>
                <a:gridCol w="2022551">
                  <a:extLst>
                    <a:ext uri="{9D8B030D-6E8A-4147-A177-3AD203B41FA5}">
                      <a16:colId xmlns="" xmlns:a16="http://schemas.microsoft.com/office/drawing/2014/main" val="923233871"/>
                    </a:ext>
                  </a:extLst>
                </a:gridCol>
              </a:tblGrid>
              <a:tr h="85376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S.No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Publication Year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Research/ Methodology 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3891171937"/>
                  </a:ext>
                </a:extLst>
              </a:tr>
              <a:tr h="107655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</a:t>
                      </a:r>
                      <a:r>
                        <a:rPr lang="en-IN" sz="1800" kern="1200" dirty="0" smtClean="0">
                          <a:effectLst/>
                        </a:rPr>
                        <a:t>1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Bennouna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t-IT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Tkiouat</a:t>
                      </a:r>
                      <a:r>
                        <a:rPr lang="it-IT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it-IT" sz="14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Procedia Computer Science</a:t>
                      </a:r>
                      <a:r>
                        <a:rPr lang="it-IT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microfinance credit-scoring model using 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and discriminant analysis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1,500 loans.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</a:t>
                      </a:r>
                      <a:r>
                        <a:rPr lang="en-US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 based on borrower details, unpaid debts, loan amount and duration.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financial factors closely related to our 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eligibility module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more historical borrower data for reliable default prediction.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863371691"/>
                  </a:ext>
                </a:extLst>
              </a:tr>
              <a:tr h="107655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</a:t>
                      </a:r>
                      <a:r>
                        <a:rPr lang="en-IN" sz="1800" kern="1200" dirty="0" smtClean="0">
                          <a:effectLst/>
                        </a:rPr>
                        <a:t>2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Dubina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Kang &amp; </a:t>
                      </a:r>
                      <a:r>
                        <a:rPr lang="en-US" sz="14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Suh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 Scoring for Micro-Loans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interpretable micro-loan credit-scoring system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studied data-quality problems.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ROC-AUC, accuracy, F1-score, Type-I and Type-II errors.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eligibility decisions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instead of giving only approval or rejection.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labelled historical loan data; unsuitable for our initial prototype without past records.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726591487"/>
                  </a:ext>
                </a:extLst>
              </a:tr>
              <a:tr h="12758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</a:t>
                      </a:r>
                      <a:r>
                        <a:rPr lang="en-IN" sz="1800" kern="1200" dirty="0" smtClean="0">
                          <a:effectLst/>
                        </a:rPr>
                        <a:t>3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Kassim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Rahman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Qualitative Research in Financial Markets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Interviewed 40 microfinance borrowers and used content analysis to identify default causes.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Repayment capacity, existing commitments and post-loan monitoring; no prediction accuracy reported.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our 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overdue tracking and potential-default monitoring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modules.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sample and qualitative findings from Bangladesh may not apply to every borrower group.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3451593235"/>
                  </a:ext>
                </a:extLst>
              </a:tr>
              <a:tr h="107655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effectLst/>
                        </a:rPr>
                        <a:t> </a:t>
                      </a:r>
                      <a:r>
                        <a:rPr lang="en-IN" sz="1800" kern="1200" dirty="0" smtClean="0">
                          <a:effectLst/>
                        </a:rPr>
                        <a:t>4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Dorfleitner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Oswald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Financial Economics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2016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binary regression on Kiva micro-loans to study borrower repayment </a:t>
                      </a:r>
                      <a:r>
                        <a:rPr lang="en-US" sz="1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Default probability based on loan amount, loan term, grace period and borrower screening.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our use of </a:t>
                      </a:r>
                      <a:r>
                        <a:rPr lang="en-US" sz="1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amount, repayment period and repayment history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risk monitoring.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 on Kiva’s lending model and does not provide a complete loan-management application.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357264466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501467"/>
              </p:ext>
            </p:extLst>
          </p:nvPr>
        </p:nvGraphicFramePr>
        <p:xfrm>
          <a:off x="544286" y="658361"/>
          <a:ext cx="11293928" cy="5757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72"/>
                <a:gridCol w="2288564"/>
                <a:gridCol w="2288564"/>
                <a:gridCol w="2288564"/>
                <a:gridCol w="2288564"/>
              </a:tblGrid>
              <a:tr h="371827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Kreditbee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CASHe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LendingClub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Upstart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5069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and loan-focused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Attractive but slightly crowded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Professional and organized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and easy to follow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97473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 Support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website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website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website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website only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2668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Size (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 MB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87.2 MB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136.9 MB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97.3 MB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2956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Process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Apply, verify, receive and repay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Apply, KYC, approval and repayment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Apply, approval, funding and repayment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rate, apply, verify and repay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353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Features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OTP, digital KYC and UPI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KYC and SSL security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risk checking and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autopay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evaluation and soft credit check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5069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Advantage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Flexible loan amount and tenure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loan categories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loan-progress tracking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automated decisions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5069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Drawback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Rejection reasons are unclear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 updates and support can be slow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designed for US borrowers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application is unavailable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2668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Rating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4.4/5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4.3/5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4.8/5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4.9/5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1435" y="122464"/>
            <a:ext cx="10972800" cy="56356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  <a:endParaRPr lang="en-US" dirty="0"/>
          </a:p>
        </p:txBody>
      </p:sp>
      <p:sp>
        <p:nvSpPr>
          <p:cNvPr id="5" name="AutoShape 2" descr="data:image/png;base64,iVBORw0KGgoAAAANSUhEUgAAAPcAAAC4CAYAAAA/gnrqAAAQAElEQVR4Aey9B5hlR33m/as6994O05NH0mhGGuWIkpWFQCggBAKxCAzYsCzGBoRwYG1215/Xxjbe79l9HHZh1zYW8Jj0YZOTLYQkUM7JKIcVaJQ1GmlmNKG7bzin6nv/59470wozPVJPa/r2raN6T9Wpc06Ft/5vpXOn5c//9tnxvG++OX70G2clJA6SDcwGG/jmWfFj3zr7Ll+EFpsRJ4QnxqfwFo4SF4mLGW4DIeQEadk7B5sBW8IT41M48ZJsoGdsABfLsvoYI12goxtO/hZeEheJi16yAaKELOcFOXXLOrfdxHA75lU6p2wSA4mBHciAxJ0pOXmYb5gYtusENnOTuEhc9IINmIY9dpa4XRvlcG5hXSaXGEgM9CYD0TRcijuoAh24jk/ySRxssYvERW9xUeq4sJHbhuuumLth8/saasxUf8qdmcRDr/LQmZbLlpNLDCQGZhUDSdyzqjlTZRIDWxiQuOVsdp4gVhIXJDuYNXYga3ZbKtPZZQOLS5ghPEBqD0gcwPZy0NGxxG0bJp0NNdcNm5/Qqxspqdx9brsdHUvcHWGnzx2QOEgczCIbkLjVnsklBhIDs46BJO5Z16TTWqGUeA8xIHHLpR1SNVnigWQHs8QOXFkPWXQ7gDVsZ5eN7d2VS89B4gASBzCTOIiStfSs84SdxXKXbcJ1+vkhJA4SB71mA6WOg+Rd7g4WakCD7Zx3fQsnUPKTeJiBPMhmU7tsq100couj5BIDiYFZx0AS96xr0lShxECbAYnbKZTATNoQSWWBxAFMkQOJW677Z4TKXbYMbCmekHhINrC9NjCznuvo2JStgsU2nLxyZ9D8hMRAYqCXGZC4047jtnYc071kHz1nA86+eG3+M0udkbsctVOYxIMGrGQHvWsHaj7ZsEZuCyQkBhIDs4SBzdWQuG2hncAUdybT+8mGZo4NoMPZdqj0bV4CJA4SB7PBBqJ98crKmqhBXRu2zCpHMF0mlxhIDPQ0A57yt9Pt3TU6f8y8HZd2SRMPyQZ60gY6Opa4bbjemUh5o53NhGQHO9oGJO6ennmkwicGEgNbYSCJeyvEpOjEQK8zIHHLlb8tN99gO23mJ1DuN74UDxkx+ueBF1y/8P4rvbZ0u+XopsHz2uulypfi2Grb9Q83qqlTB2VQsPwzSxbuV2y73o3aaoowzm7DS1k2sDfLBoWh5ewxvDt7Dpu/B8uGp4bd5yyjjT3kCyPL5RsUP7KUOX4ONf3ng9pL+13tEgd94wj4KD/GTnu276A7CX3GRaljb92bGUMA2zV33bD5Cbxgo8vVF+FHl3D6ke/nQ2/5FOe97S/46DmfLv3zzv40H3vrpzn/bVPDx9/6F7TxaflK6y1/zseE8882/095zV5Hq9G8JOvwstkoQVs5ndqvC7tO6GP7LXfLAx4ZRUKnc5uEi2qoUs0HWVRdzJLKruxSXcZu2Qp29Xuxi9ubpW4vdp8qsj3ZXent7lfIFzLNDjKlq3yW+b0Zqc7Dey0JQiSEIJHz/MPZZdApoX/tOpbt73VObrsYiBQD64nV52jGZ3HVTTgvuDGcq5P5pq4NDflTgNJyXmn6epkubhyD5eEUF2NOlLCdc7ovkVs7ko7EwIsZSOJ+MSdbiXHkfpiWGyJ3wxrjhTgof0iTd8HVyLUWbjHAVNBkkCbDNJHvBrH8WvLLePlBky3nTNhdbKW4KbrvGZC45WQwJMgYts2FK6r4UKMSq0KGzoIXcxFsNJXnAuUP/V6p77VR5pWGD055daE8ymuPi45tHioDKlGCF039DdXebSGhNBxFYXEJvICHjHEqjEnQhjre1XGaNrenzA0y16TidwDKdOpUlH47vYbSbSh9m6LbT4W3lAwdzgRtUBhSu/U9Bx0dS8lmFRoqNMHUsADma6JJgrgwbibAS1gakk0+SESRjIIKQVNy3KCiakRXnRoY0PtKR12IFvbtNDVVj26AwleIypfuESmbzMpjQEfb1w09mdqwT3koe/uAxB1kEgmwPRyIqhnvokq4PXV5Oc+kZ7fPPmYWTxK3bCG5xEBiYNYxkMQ965o0VSgx0GZA4rZVmrxyLffCsF0nsJkbeuRIbcbmNutfLqRqOVt6a3OI2A0nn5KTF/LgKPepmHgorjSkiXE7M2zleWG5Z9N1qgsvaZsTeCl1nJVPyRJtE0ZwCr7Yei2yD6D6l3Xfmq/NklgRD5ngcd7Lt7DFWViXO8JZ9t10rJE2X5eN072T/MTA1hkoTSUgq9Tnnc07xd2w+f2GuHWyeuqO1aPf2i7VF32UfT6CidssN+pkkFeOXuYnJAYSA73MgEbuXi5+KntiYGcyMLPzlrhtgp4ws5vp5ZYutSflJmd/8yBxy5Wz8+QzKw4z6NSW9LNN20asvn6ZFWwx6e6ye0tMCiUGEgM9yoDErU883d1yNyHcjesrv0db8XnFth6639uxH+s/oc6ljgubu5gxJDxPHz1/kdqz/Wuj/uZBI3fPW3KqQGIgMfASDHTE7SbcmhieEJ2CiYHEQE8xIHHbTyjlaXeNEhPDdq9f4Hqq4bZeWKtHv7RZqielZl/Ig2nY25rbzMTpJNgSpfw+qMvpdjMufdV/xpVpJhfIjGUq2J66TSV9e3d78piFz7z0n1masOPWV7vkVu/ZYgxWD6vPdMLymKooLI1tldHuT3ce28q/h+9t2S2fWAkj1K7N70dM1ZhmyvuvRttNta7bY2evRh6vBlc7Jw+bnE+VwfR+YiAxMAMZSOK2RklIDMxCBiRuuXJfrd/92bKhZvWY7ra0PKaqhsnK+GrkMVkZevu+Sm8kyjOBd3bZKHfMLb7fwCw5dkS7bZ0KW0EWLhK1ceO08ZrFgkpsyYKa2P+gIfoxgm8ITaGl5+yPKdgaG5xszEWvDzhZCa+3fBkHRKXZhdINriAafNsPLqdgAryjqbwLAT3ndNcr7GPAYHnBjuCix9IQnxivEEFElnDdsPn9CFHR825HtdvWiYguEE1wsh2n7JzESqxIm1VZUlUSG5CIM8G3E5HwgpcosyZ5pU6rOkaetciVRu4U7y09CdvpcQnWGZzX+5aGECoQM2KhuNCBrn0+TKUYhjzD/jdMmToGT8SE7RVGpUHXfQenRlHdPTolBFmVESJvZ7sdkr/VZyrYNhdOo6HX6GB+cFC4jJarkbshWsyjiAvwYRDigGCCz7DnbBQOvqVwk1z1zO3/1hJrFLk6hKaebQzj63MYyBcxt1jKwmIZi9mT3Sr7sHxgf/YcOpAVcw5mn3mvYd95h7Ff7RAOmHsoBy45lGprCPt/uUWVzfIK3jqLoFz6FxK36p9cYuBlMOBM2CEr3wgafYtsnFAZJfpRnBMYpVEbp5XVsVE+K6oMtRawoLk7u9T3Zo/8EPapHc4h84/h+OWnc+Yh7+RXj/8Qv3nGJ/jEOX/CH/y7P+X3z/0U/+lX/5xPvuvP+YN3/il/cG4bv/+OT/GJt/8xv3fOH/E77/wk5537u7zvrR9kl5HdNRGtEnUOzlEI4OjnI4m7n1v/FdfdRJNJSAgBfE7mWlRDS6NuLiHrOlQZqcxjl6HlHLTkSF6335n8u6P+PR983Sc4//T/ysfe+Ek+fPrv8YHXfZR3HvN+zjzoHE5cfiqvmX8s+w0exorqQSzN9mFXt4LFYTkL8t1LzG8tZV5ztxIjcSHDzKc5GhivNylUn+BUplLYybTFgJx6O0o40TPxup/CVndVf1a4qbbb9nARxZQ9l+GKQSrNeQxLdEuK/Tliyem854jz+K1T/jMffeN/4gOnnc85x72HEw86lUOWH8keCyXawWUsruzKCAvUIQxRLWpkWrc7pzQ7xY9ae28LXtN6dKxe+wz1oomt4Utxa8R2WpNDprudxEr77pewU72d1dgCnUrHji9y6EswCw5rz5cDtbm1u8HMQe2u5SoGZ/rVdRTMgUbpmGujq5AQnTazKgzlc9mtug+/sudpvO9Nv8tv//qf8x/e8vucdcC7+ZWFr2P/oSPYNVvBSLaYihuEzFFkLWKmTTRnKBQuCBXtgys+rzQxtEq/pfDWkFOESD3k3PvQ/TSo015ng5VXK27AQT+ibMusbE2MjhIubgmLojKur3xVf1a4ydrRJrD2jCpbeiYChTttnWn4y6Rjb9cuJ2rK7WQbmeIHtH4eifPYY2g/XrvnGXzgpI/xu2/6fzTdPo9jlp3AkspCqhp9XRZxEnJU0s5nklhGJRsg84PCMN5VcbYjLnhXwVNBT6jTqJaoaBSvyEi3QHfLuIo+u7Xhlfim5kbuf/o+RqubKHyO1266xdtaP1pnRKTv7FhtheruKVcqhQgwqEXLa/P7DWYEoqHnndVjsrbrVlLPOj3r1PbmyyDMKJpZRqPiyLMG+FGyMEZVwUVxDw5ZdDpnH/1b/NrpH+Vtr30fR+7zepYM700tLsAVQzitgj1D3Qx2kO+UjkHeZhdpasPu/ofvZtPYOqqVTB2EU/5oZkH7mFAnOnXrJ9+3WUjn/mKg2+xR1Y449fSx7NSjxrlAKxsVpGYbTZvzWeT25fi9z+S9p31Y+CAnH3A6++oT1EK3lMHWCJnWy16jupIhc05p7khn6Rnaacby+7UkGgpG/VpuuuNq3EBBiA2JOuIjdGvXfqN/z4mHvm17qUBSRjDBeJeJCYcjoxICw6HGAo3URy8/m18/7b/wjteex2uWH8PiobkMZw6bNmd6VjNufBaQwnE2LXYtdQktpn44JeEF8wGFYgy0UZBrA+3ex2/j6U2P0Iwbddf2AaJmGQ6v6bpX9ayzoY8PsWfkJcwuG5isPYOqK+vXue0cznkcVYhVFrMvRy45lfee8mGJ+tc4eNfDmcsCKnkNr2eizrHcydZI77fAZgBOI6sP7PAjKt0gcTvl22w2abQaXHfH5YSBBllNywpaEnUQ0AhO53Dy+xceNRRkIkHBKHTDZbxd9xNEQ887pxpM1mZ6RE6y1Bmcc2iWS9DUesWKfTnndR/m3JM0Uu92NIsrIwxoypv5Js5riy0OavU6SCGRFbo2BPnR7EYdA5qio1GfHXBIzxqpVUoLaIahC2IIKmfgwQcf5LHVGrXdOI2irjrEMkervdPI7cpLu5qMi1l4P1qdMnzJiBFnAeOiG7brhB5kwKzaRjLz1aDW0F10alOJNQk1UmhDqpVt0midsyAs4tzD3sf5x/4hJ+9xEkuHl2j6PZcsG4FsDtHXBIcNjd5JyhKc/ZZbm+IWhVPaUfFREQZdTs0FvS4hN3ydjX4jTZfjg/1MtcV6VnHhXf9EfXgjQZtmtULrfn2SK1yNeiXSrASiM9O2UimdPnVioGRR1U++SJhlTm0q46dEobrpmkLGv5FIYECiWJDvyYELjuM9b/wtTjjsFIYH5+u5GSAKK4JQ0TJgKA5T1Se4VmiyIa7j6rsv48nmIyqn1WcnQNwxk2HtrXaWuK2HT5ClzCInVWyujRl/UYrZBG1Cz7Xp5SSWkdZuvH7/c3jPiedxhfbJlwAAEABJREFU6OITmRN30UbZoN6UWei8M53NAtB6vlJI3nlVQU/Lj/PA6ju49oHLqM/ZoOIlu0UtuzXs/FZUEyW3oxkwcZvha3qqESZoeuud4hQVg6PWnMucsIRzT/0Abzj0bJbP2Z8R5jLohqn4Ks7p2R1dpJeZXrmBFlRg65vkNf0YT9RX8pPb/oXRbB1RS4qXmWTfPe7BGrILdHTD/ear6rPGSQ1lj45a1+F9pk0oR5YNUsmG2X/wWD745t/msBXHMGdgge6D7b7YWtrFHKK9r7id6Kx/cSp9VD0ajPNU/VF+duePeWr8YdD6u9qsgO4nOHgRD+hwZZOCeSU6u+ZlWLrvK9+Jh9nini/OtlY9hXS7Yo/9+LXTPsr+i45gQKO1iShIJ0VWEHxTBOQyFRsuFdyJzspsM47gCtY31nLDfdfybytvpqg18HlkJJ+j0vWbjb5EfV9Ko9F0nJV3RJJro7QJC+uy79zsqLf9BZKqprNOO+KFq9DKmhLtRmotxwm7vYn3H/mnrFi4D8NuROKuMpBV9BEryhC8RF0ThtTyUrvO0+nse7iLQfkVRAl4C2ysdvgiExzrtHF28yMXctuDl+rZQKU1B6/lw7jPSce2GfBoTQaFnhJcaPtlnIX7Dap+j7soCRTOE30d5+rYhtRgvoT99c36zW94O0tG5ineSSAeZ//Z0M3Ew028mLZwdBFlT9TJ6VOdL5Hhg8dHWaQvWBvXcucj2kC7/Wo2NteDN0GbneYqv4X7zT63s74dHXsQkwnMliNI2Ln9qMS1yGKLOXEuB+9yEuee8hEW+F01WhczoqrRgfb2VBaHKy9kilY0bf7FWLA+X8utT9zIT2+/iHXhGZpZnaBlQ3QSteqG+cluxd/W9StGdT+5WcNA1EiIy8i0kB4qRth7/sGcfcJ7WDa0L0NxDtU4M6oaVIyyKCZswX55VsQGDTaytvGU1tc3SNg/5unGE9g6O/gG0ektA5GoqbySSG4bDPht3JuWWynR6WXAEfGFo9pcwPKhw3nrCe9lrwUrNGJDJuFHpn89vT01dCqLw7dHbe2eBdeg7jaypniKm1ZexaW3/JD1409SHcoJcRzv0HTd4TRtVw0JmqGQjm0y4EFOzd72Xxi2636B2yZRvXJTq21qEsAuGqlff8Q72GvRodSik5TGiJWcnOqMqIpNxV17Xo4USy5xr208zTV3X64R+0LWx1Uqc52iMapZiLok1SkL6p5iRd1XRniezfaLjb68euppB6IRE7mMoB12UMb1m8/OP4zyshQag50u5MpLnZwM3IUBhSRh1yRq0yy6QAg1YjGMD0P4vMbcyiJ+5ZCjOWS/Q6hqxxxrW5cRlZ4GdV6Nw0VwGpEdQYFCeeeCwoCi8Y0c12yp7A3G2MRDzz3MJbdczE33Xc1osZrgR7HB2VcG9cawMICSJHam404ipy9t1MFk9Y72jLdWN8qMdMFaxBoDi+tHMAMO492KYQ1kviF2mtNJMJnUYUINRN+icLlGvUChBjVkDLLXkgM44sCjqKIpuCmpHOX0nlLxLlqCrxJcmY9T2cpdcI3UZVjXpvCo0XosrOeuR27lx9d+jztX3iJhbyD6SPmIXo9WdlfVtdVZybmgk9VBNzE/QQbR4aTDhTM/mLiNrP4EZUfWrXsUQb3goiRqhp1J2A778UmRNQiVJs2iyeK5u3HqkWeypLaUaj6gTWVNzqLVK+q9aIFXBUFFjM5O6lQ0naaEymJ0qwTNgZxntAt+5T0X8+Mb/5mVz/2cenUN9rfOc5lloQ1BPTaJs8QSeJ4db+FDbE/CX7o9oxjwGonLjlnT0qhRzabl3gc02LFweBeOPugk9ll8IINhhJobAn0/lqpVhygg2bjSn+6TTf9LgVu2Bn3iCrRo+jqbwnruW30X37/2W1x198WsCY/RrK2TsDeqD2gRrIhaRkx3GWd7+kncPdbCjkJCjpqeV4SqwhUqGuUGWoPsr82zo/Y5kQE/h4rTWlUjp69q5HSawrsoYaN3eFWOgP6LQRPngDYCJOoxNvm1rNxwD5fe8QN+cM3XuOfJm7F/BGLfsHOVEZ/hnVfZHRVPOqbIgCiUIwEcvXB4icZJMk4jsg9VKoXQzNh9aDnH7HUyuw7tiU2Hg4Zy7b+1p+2uQKtYoobETFp7NeoZyJVni5gVtNw4z+WrueGBK/nGFV/i8gcvZFXzARrZs7T0/To47eDHIVwYxKvQldgiEyYvp9cjCWxFv2LGbSEodsPm9yNExU5y259t1KOR6ASFvKbng2GYvZfsxwHLDqIqkWCN7aB8RtN4dB3Vtk7P29vytu3UCTiBzVBaejF2EAgU6jDMVxCnOXgbek7T70jUgsHRCg3WtZ7m1pXX87WffIGLbvwuT489QtOtp7Bfm2X2pCXqVcIqTnVx6rSscIo1bxJYjRIoB6YJPKitEaMSt9EYoGylbtj8foRomOlOxh9cpJXlEkjASxBLhpdy4J6HMDI0t2xGi/Nq4Ex1ySQzHzV9pwaa8uoFJjuiM9kGomzCwlH5RV2Vvu5Z2O6iPEoUyrZVkIeWRuk6o8VzPLvhF9zyf3+qkfoCvnHD57l//N/YNLiWgnG8/XFU+3wXByBmEnUUCpmoUnWOwlUI27XmjqpKAryAA2fXQfKmI+y+96MMpRecUyGdhBAlCIcvKizfdS9WLN9XjVlhRxy51Ge71oZc0+ZC17H7jzZkJ9Zx2J898mVHE2hWG2yqrWc1T3H/2rv58a0/5OuX/yUX3vKP2ji7lnGv79bZKNG1UKkFK6efpKhR95NtIr5fKSZjWAQntzMZsL9IMjH/oNE3OiTuoHUpzKnOY49d9mfB0C6Ky0AjK1M8PBWlPVDCa4TNtGGX2T/BDBmZYOIOvqVNslE2+bU8UzzObY/fwDev+ApfvPBzXHHfpTw8upoN+jw37iMNwMblqO7Hyh5dUEwUkptOBvx0Jp7S3jEMOCc1S7qWWpAfLKAFsCsiu87fneVab1eZqwm4ROmn3qQ+z3CtjNK30Vl5NUOTRhhnPIyyprmKlRvu5paHr+QH132dC37wP/n25V/hvqf+jWZ1PUVtVM8Ok8cRlXSeJD1Xfc6QwhlRU8agjiGWAldUctPGgEfGguhv+w7K63706YkjauQ2cTuJw2sYXLp4uQS+XOKxn6BCjHZ3alUJmj6HSoNmZROjbg3P5o+xctM93PrU1fzkru/yz9d8nq9e9nd85/ovcf1Dl/Bk6wGaA2uhNqYCjGl0b+L8uCypoSV+ruso3+FUXluvF15nN1kZ7YEExOIrhcQtV4o7U8NYWH55beF+AzP+0CCKczL6CAOVARbNW8xQVSNkobYy8eiBOBHowQm1kqwIuh/UCVg4ak1nCBQK5TTzOmvGn+SXz97NjQ9cwY+u/QZfu/gCvnrpP/Cda77Mpfd8nzufvoFV9YfYmD1DvfocreooRSYx+6YsJ5AVAe/XkPl1ZG6DMK54CV45qIgElT9OKNPWg6qT3iRBFL0MLjTbgqxkTS8a1YJT8AXGYDH9AdV/hlXUTSiSBYPax1HHFy1NmwcY8AsYqA3pi/ImWtkGmpVx6q7OOBuFDYyxntH4HOuLZ1hXrGZtsYo1rVU8XTzBoxLnfetu5/anb+S6Ry7mB7d9hX+87G/4zA//hM9c+Mf8n4s+xTdv/Huuf+QiHtpwO2tbjyrNdRS+Dj7ISjJ5NWpxDrV8RN/bhwmhSu6hWYuEOFcYITAkVMVsRSO31yjuqaoj8qZyHGwTpOOVMGC0inU1RdDrXRSdsPn9hqi6z3znyHCuQsyChLyROx6+kQtv/gY/uPnLfO/WL/C92/6BH9zyOb5389/znRv/jm9d/1n++drP8PUr/4p/vPS/88WL/xv/++I/5m8v+TM+97P/l89f8T/46vV/y0UPfpvrVl/Kva3bWF08ST7QIgwW6jQa5FmT4AuCMztBR2k98qfijO/Jbcy24hJeCU/RRm4juQtrLAubnzBTGLBpdrcsTuKOGvVMaJuKDTyw6k5u+MVlXPfQT7j6oR9x9S//lWt/cSnX/fKn3LjyZ9z8yJXc/uS13PXszTy44eesHL2L9WufZGzDavLGRlxRJ4u5ZgO59sgdlQAm5IZrUv56rJITMsHlGq0DQecdYyE7JhXSsRUGool7K/dS9IxgwLnuKNkRg107TwigZTMxdxRNiC0vVKA5hGsswAvmG+L4POLYvHZ8a6EezlS3DFd2FG3fazZA8Jjv85qm2TWtnSu4HA2cEdf5D3UsMSouuRnPgKblToVMEAk94qIE6KhSY/HQ7rzhqLP54Jt/hw+96ZP85hv/c4kPnflJPnjGf+QDp/0e7zvlt3n3Sedx7nG/ydmHv583HvxuDj/gFA7a6yRW7HI4SxccwKI5Kxip7cpwZSE1N4+5YRFz6gsYGB+m1hzQGrmqkd2Xa2bUseDMXqZKl6WRANPHgQe5BNo8yJtp7kWjpCbGGjp9rJI1B1k+sj9HLn8dRy89nWN3PYtjdzuDY5edxPF7vJ4TV7yBk/c5jdMPfjNvOuxtvPWoc3n7ce/mN479Qz5y4h9x/imf4vdO+zN+57Q/4bff8Ed87PV/yG8c9zucdfg5nHjQazl0+WHssWBPFtTmqzOpEPRdvdBOeLdIXY3bssFg1JlvsPC20Xt217aRHij383fLO83QbbXOZfJ2LgOaARNcJJYqcmUfXzhtdFVsg2ucRms99cZ6FVJzZz1TNp9GVuc9Bu8zfY5SJ+CqWk/XqLgBagzq05lnuFZl/uCIRu0lLJ27J/vuciiHLjuGY/c7lTcd8S7eddyH+MDr/4APn/FnfOSMT/P+kz7JWw56L0cvPIFdi92ptmr4ZqGp+yZqfoPEv5EsbzIUR6jmC2hlBXnWoMjGCNkm8Jtw2sn36pgqRaU9C1DJk5s+BjwEpd6B6/gT4/oqLCpmuHM4jaAB5xzNvMG6DWsYb42pA8jLkntXets8OefK951z5XPOtX27cM5RyQaoVecyMrSYxXOXseeSAzli3xM44/i38+tv+wgf/9X/wodO+QSn7PUO9h08nqHxFVSLXfHZHMbdOPXKBrJiUFP5IVwYFAaIcZBgUPeSuwrqspRdSJgOfZU6LpC4rb9PkJX1hHOdJitcQZHlPKtd73WbnqWIDYmnJRGZYJjiEUvx+5hp97yqzbVBBsI8RuJi5sddWTawL8ftcRrvft1H+K23/ld+4y1/xKmveQ97LzyCBZUlDLtBaq0K1byidzOykOGiKwVtO/FW7lgaYFQ5ExAz0wEvdpPrJQYkEu880UVCpeCZDat4es0TBJqagpuwDVOrUCRXAg3Q5zBcQaa8qjiqWsvVYgVJnpBleD/MvMGlHLjbsZx55Lv4D2/4uEb0j3P2Ae9k34UrmNPSDKDuqOSRCkrHK00/CuU0PScdr5yB7XnTb89D6ZmZxIBDOiPaj0qyFms2PcOTax6jGccleBPMDhC3U8eBxhJlFdHIquvoA+MvfsYAABAASURBVJanoVC+5Tdw38LJgqp6boQ57Fbbk4MWHcNZWrN/6M3n8+/P/AgHLjqKecUuDLbmaiSvSeQZsciJQemSjulkQE2TKf0udKl+mb6EEw8z3zmN3EjdJrqgUbVwLY3cT7Fm3TPEmJd3mOLh4oDSGSKGmqb7FY3jmY275FJy7oynTNP0KlX1I5XQ0kIhB5XDOoCsUsNlQ8xvHSRhn8wH3vofee9ZH+fQPV7LiF+u7+8SeVggCxsAvbkFXRtMPmJnajAd+5Jdkeza6BiOLvrQGQczq9pOg5tTmzjtMKMRVJcU2vlGm1T2Z4t9dOSDDR6x34mvvlejdxMf1LCKR/KkPOytLsqI7T+JEtugU4qloWSalmf6BOcFnmeADpyX8/Jd6dcqkTm1OczLduPQpa/lHSd/mPeeej7H7/UmdmFvdRyDtIBCCFFnwamYTnlETf1jmb4i2Bb0cnIvZqBs/1LcRl7QA4ITtHqjL2E8iIYZ5px7foGiFOAkXK8G9CpyVJs9N/YcK596iPVj64gazXVbL+mmzpQX3TAv44h6cyLQteXcBlawLiR9Z+JG9xRnewJUC1w1ah8go+JqzK8tYr+lB3PmSW/l3DPew2uWHclwvoBKaxAfNVXXtD/4psrfxLkcV8qeSY6g+wm8UK+yCes2/fNvxA5Z5u9QKN1eSE/FnOHOlUZfqJQRJ4Fjo7qE8eSzj/LAY3fRzLRh5ZrYRhhlo6MjE5wQBRODvGl2hcoUzMhcJFO2WZEx4uaxW20Zh+52FO875cO88/j3sXxw71LgBCdhF0TfkrAbQr4dJVTCJLAVDiTu7eAwPTKDGChKw7dR20vcsYjktHiu/iz3P3EXa8efUFOP67NYXbqXWEz8Zv96qzQCV15Me30KTauD8gyd/Cuablf0aayWDzIc57OYZbx2/zN47xkf5LgDT2G+30W76oNk+mxmRtleikx7MWd1BsbjrK7grKucpt3OIAl76dRrQI66bvpxnnhuJXc+eCt5GJOwbfSO8jsM6NlO6FXxHBWcBO26+aqcZcbl9D2TiKsMMZe9Fx3CW455F2cf/R72HD6EgdZCTToG9WhFSG4qDHi0XkoQDRplpkLkq/duUFZBwomCI3MZPgNXC6yrr+a+lXfw1KpHcD5QjtRl+yq42Vn85otpC2TaFHMmcOfQohqpmZgFCpWrpV6pVS0I8mthDrtV9uGEvc/gHSe+n32XHEFsDROpMfnh9UgCZRu/mAfFuC0EaZpH+aBT3KzFNuqmWzvdGe9WiGinDrbEWRMZgkQTnSdoWu71zdhpcm4bUo8/9xjX3HMD65qj5ErC1rsumKBbFJJMS4LrJDrtXllqlVO9ENZ3WrlRGSj/rarKpAe8bmTa4R/x8zlw90N5x+vexev3fwMj+VwKp84AW16MqX/I1T9kuGAjeiRq861MVO8nX0RO5KEk2puSZQGIaIPrhs3vR7DzD6O9LIUFBLny0k4ydvOCmi2YsOVbE5q4sR+GuILRuJG7V9/Nrb/4N+qxSRFyvVKo6Qv5qJV96U/3SdtjykIilJijcjc4+Vbeispd1Ywjk69qYP2NyxzVWGPPeXty1lFv4dTD3siIX6i4Kl71Kr+jy4/WWShlqwlKOyGKjRego2OPmjvBOjcjSDz1uqvkrM+f4NZ7r2Ll6geoV1oEm7czQCZxVW3UnAl1lFBx6njML8tj0q+qhMMsmLuckw89k3MO+1XmN3aD5gAtH6hXx8kr43raUdXGnAKTOGvX/oWfhJ10u8cYCK5Fq7KBVWMPcektP+KZ+hPUvU3J0ZTWaWprxs4MOKwzDdh3+jZ0rWHcM6iBfA6Lqss5YY/TOEubbXPYXePPAKoAaPkhnePzmsLJbYsBv62b6d60M7DDMyj/DXfF02A9T264n0tu+j6r9XlsnDqtoKl5uf7e4dm+ggTN9DySNG1xdzodRbjotcauMlJbzJH7ncwZR7+dhXEpg80hfS5zZV7Rt/3yIp1ekgExLEcXRlg33G++1f0lOeqpyKjvxPabcKlAI/ZqHlx1C1fd9hM2tNYRXNAm1QypjnbTiZkKY7ybsAuiy3GdaXpwkVYlMGdwMcfvfzqnHPBm5o4vYC4jGsWDpufqqPT2tl2/2XC3vsapM1VboBMZOz4W14+g9w/tPMdWBec9ua8zFtdy1y9v5JpbfkrD1bWDHokaHQ3WwnbhUITQPpexrxIPE+3NslTZVA6pl5jlFNWA11R94cASTjz4FIn8FIqNHvtCYPftjW3D6tKHKHWc4dvkRHmCE0pyddl3zure+5V2smXvMkKoUrgKDT/ORv8UN//iUn583bfYEJ8lJ6iVNVpqmu4KjYD6nOaiSdzpHYiWyLRTYXxHLF+nUdxFbaYJaNvP8ndUGWSIAXVSNU3Bl4zswQmHv51lC45iKJuHVK4SRsGcUzp+MygHJ3R07yvYT85ZvYOJW41LF2rwzeFuXL/4cZY0fw4asTEB69NSkECKSpVR/XfzL6/kolv/ibVjj9JyG2lFPavtKzSVJ3fYRlUlBolk5nHhbASfv5jTX/8m5lUWUNNuuaNbTo34Th1WB6juW9Av9juxnkG2HEzc8pObPQzIwHENnHpvGw2DBN7QHLxRG2ND9SlufPhivn/FV3ly00M0KmOauheEqOoLttx1RZC4gyJ2vlMVUGGI7QBVP8CyRXtw4hFvoFafh5P52m/Qo+qnC7YIWpXRVb873+8EzM76O5B9m+FrhUpFgo8+J1SbNLMx7n3253z1ogv4xdq7WO+epVWrE7V5pe9kWoJrBNS7O5sX1WBzEcriaKmQUWPB4K4cc8BJ7LXgAIm92l5/S9xOU/eolwyko2RA4hYjJJRszIJT1Jo1aLWKfK/VdUZdoQY23c6KGq4YYnTOKI83HuGbP/syNz3wU30LX8m4e44mDcgq4GUWM4ALV5ZBU275pcC1WViNQ8zNFvHG499MaEGtMqC7jhDUKSlUPid7dgJ9DrWinJofTXEod9nsul9B7x/6vBRj2+A9hUTdEFrYwFwpBsnyEcYr4zQHGzzbfJLLb76QS679IY+u/iX10FB3oLE+ohFcotKIaFPeF+JVIGlCFipMuYZ2aPBW55QxwBB7Ld2fgw88hCJXd+Yz3ZPNOnTYSbAhvF/tuax3ZooWHzaHM0+cmJfQwwxoCl7+DltNWzAosc4V5pC7Krl9XqrUmTe6hFprUJ+aWqwZWMWNq67ga1d8nuvuuYQ1Y/bHFuvkIadoNvF5jteOuo9QSF0NjeoNpwvXwvLBaVPOFQoLpQjZQYfyMLvUDrrXvkGmy6oKUdXEouJHmFPdi3P2+wQLm3PUca3FaePA5yO2siD6UVqVlny9tINK04vJeMoGCSp7gkiYBc4Mettt6fxzOL9Jda2Db1FkDda1nuCSW77Nd676HHc9cQtr87XUqy0aUlXwHhyoe2Ag1qnZLrsER4kqaLZA9GAPbbYnpu1wzuFUpl0WLWH/vV5DzIexz39SOLgIzyvHtrlgc3ln0XPWwVOgFjEyEphVx7baM+BcAyejdhJkjBUKbUY1qg1Gh9dx95ob+e41X+Rfb/o69zx9K8/mT1OX+HMzmIBGcYODCVlEmwKbKSlVSn/6yXTKwmuycNxRZzAnW0Zseuk6V7nsTqa7CqqOdu5X+JKFdOojBmT8YUgi1WhXjMgfkSiGJIMauUTerEXW+4e584lL+P7VX+BH132NOx6/iTWtZxinpW/jGUXZKQSCvonbenyLeLo0+m5gWv2a8yxfdBBLFx7CQEX10WjlrIMJNcr+xu2Q7Hs2EbWCMdCF1aMb7jff6j5bMEnb2XRam6hawpLFQmvWgJdQnY26GskDUTvno6zLn9AU/Tq+efkFfPWSv+Wmh69mdXiK8eoGot8AWtsWbNLTDZCwdJJzHcibZpepzLW4gMMPOlnZy5TRyG110AICU3e0AnTL009+u95iRK4kxHybzpjfj7DGN1KmgtKappLAVt/V3nV7gGSyPKwe226/oHU2ro53o2RuQ4kKCscWlRg1ms+BoBE98+S1TYxVn+IX627huxrJv3ThZ/jZTT/g4cfuZePoKo3e9tdWG+A0R7ayWfEMTPehcqqqrhhg7+UHMVAb0pitMkjUttSI9LMtW90dZgUgWkqUjSLG6MfD6r0tZNSa82TDw5qWVgi2O1s0qBR1fCjI9WqUYbnC6ZkpQKNROw01UHASGTjLS+FK+b++dURb/1I2FlgTlhtaVX2+qmp6rfcUuy0XnKNwFZV5gBzVR7Bv4yaIKFsofECflAnaqY75AEHT3CKLjNc28sj4PVzy4Hf44vWf5Ss3fI4f3/Nd7lx1M8+OP0ErjBNbAdeEIF6IDRShkuYqW6GyBeyc65s0waleQlR9lKflG8pygXEZVIE2D3rmJTn1FGGAYVewx8Awe48cROZ2pamye3Lmjs+jKuErmf5z0arszTKMRvV4ol1sK9bCFpcAEzkoaFZGhSbjvqDuIiHLiPrGWmh+W7igNWtBnuVTR6W5OY0iKyiUZuHb6do/hVQjvcC5F1xPLPdLhe35rcGSChJkxw5cxG2G0lLdm77O6mIV96y+i5/ddQlfv/zLfP4n/4evXX0B16/+KQ/7e7U6HxPqbcFrd90pRS8hV0JGVbBd+pDVCX4c3LjyGJcxjlPRyr4qeGcciNPspVEoPlNn4JS2WoEVy3cnU9m8Nv/wY6C2wrXgeW2o8vf29fbVx1k9C/Ep0kkQaXFSOBl1dDmyUQqNfIWNbKJQto/X2hUj1SmZVwwrg95HCVii8qKMMWL/SXDR7hvsGYMeMO95sPuT4XkvvMTFtt+PKlteCbTsU9ngGM9VnmFl836uf+KnfOWqv+Uvv/cnXPCj/8W/6tParY9fy0Pr7+Xp5mOsD6s1+V/HuJYCddWpISk3qZKLx0KzA2ykLQbB/lFIoU9sL1GyblRZQm3sebVDFjOWLtldbeDQniBRHWHIWkRrD8on6Ucb96p1ctvJwFxNAwc0Z6zJmHxo945OovYaozTJ1Xo14CXGV46o9xE6flQ4Ol3LBzLBnHPOPMxzuDL8ap68Rt6BfIhqLgFq5u3ERQgKZE0KjZjjfh131W/ioge/y9euvYDP/+x/8YWf/U++cuXf8b3bvsqlD/6QWx+9hgeevouH1/1fnhp9hDXNVTxXPMPGsFbiX0+TUdC03inUhddIvBnifLxS0Kqo/pUB5s3flZqfTyy08x+H1GHUJGvdo3+PJO6X0/YSdkVrusdXP8C9+jx012PXcPvjwmM38PPHbubnj97I7Y9cvwWPXs8dj97wCqF3HzNcx+2ddG7X9fqxNVoDhxJl0afFfredqFeHUisyiTujJqFXCq+pdoUseO1BCAHqg5toDG5gdGAtq+Nj/GLD3dz5zA1c+9AlXHTnt/j+DZ/lW1f/BV+/7M/4/y7/NF+/6r/xT9f8d75141+rA/jfXHj7l7j89n/hqrt+zPX3X8JND17Gzx9SeTssAAAFJklEQVS5psTt6hhu14zgtqev4rbHjZ9beWzNI9i3+KDRvNxQ0xeBqDB9fHg2jwsKprBMYes8jGp92Jxb55I7f8hXrvgsn7/iL/mHK/6azyn8D5f9PRdc/hnF/c0WXP43ivvrl4m/0vOG7rvyL7M0/oovXPE33P3w7YSiwGsnu/zGrNFdhZ7gnMJbrwNlG+uRbTqnu1tPw6a7LY3Quf2TUa2bC98k+Jamw4X8oBEThhrDDDaHGchrWEdQsRQ1ywlxXBtho6zP17Bao/Wq5lOs3LCS+9Y8wB2r7+XGx27nygdv5OL79J397q/x7Z9/ia/f/AW+qs27L175Gdr4bOl/5fL/oY7hr/nnSz7Lv1zxZTbmTxAqG1WOcXCaSWDH1utBycXsva+aOTEgzyqqKSDmq2dmh8DBbEonG9RkUAZcaxAG6rTkG/LqGPnAc+QarfIBC08F40rLMCq/izFayi8fUL7VQFObSLl21YPonQhrvrbWdWMaeY9Ku3Be+w4ZQb4hao1g8e329vhQwembuTNf8KHavlYcGu2dGwKGBfl+SB1CjaCFR5D9BaWVa93cqo1jyOUbjIPWwDgN8d3ING3PWiVH40MbaSg+ukKzh0zwSjegYkJ5ml4+Zlwe0eqrNtDCBkRrCRc7YfMTkMlNhBmqlwEadXbLx4xMxprJgGTmeFHmNBXc0fDK0/Jyyk8KQZkSlVl0kReivI8KMq1wyqYqdASscrkSXnEGR/AawZ2hXUZpFrM5KxkSr3NKQzB+9TSOQu/meqzVQcBpmu8m8hn0juK84owTpw7DpuGFuNAt2W6GV5xXm6BUwHLrQ8guIBgDQaQkGBmTQ1TtdDcT2ipuBwtTLef25DFZMaZaht5+309GT7qfGEgM9CYDfSTu3mygVOrEwCtlQOKWs9l5gjicjAs9stPdZGV8Ne677WBhquXYnjwmK8ZUy9Db76v0RqI8E7fteJiv7Q0S4EUcMAMOa6+ZgMmo2BFlnCyPye7viDL0YBodHUvVtnHR2Tjo7LLRr7uMk9Z7MmN6Ne5be80ETFbXHVHGyfKY7P6OKEMPptHRscTdEba2zkmQtbwafKQ8kq1Nvw1I3LLn5BIDiYFZx0AS96xr0lShxECbAYm7BzcMXrTRlepA4gQSBzCBA4lbjgwMsRs2P4Hyy8Fs5yHVb9a1c0fH1rISdmdH0ClY7hibn5AYSAz0JAOljoMNTRN37QrVZeJ1Cqdd3WQDvWcDpuNo4o4SdBcKliN39zr5JD5kFMkOessO1GSy28603C4SEgM7m4GU/45kQOK2CXoCE3YZUzjZw2ywAYlbzmbnCZA4SBzMBht4/m652tScLa3MT0gMJAZ6ngEN20GV6MB1/PQb8y2cJC76lIse1kKp48LmIDZcJ/TWbmhqr9Rek9uARm51zMklBhIDs46BJO5Z16SpQomBNgMSd+d35fbbcpull/7EuBQmcSJrSXaw8+zg5XIvWUvLdlbDuTbKP89iYV0mlxhIDPQmA6WOveSNLcw7O4PlLpuFLS4hbdokG+hJGyh1XO6Wm5i7sMbshpNP+gymkSvZQe/Zgek42sit9ksuMZAYmHUMdNbcO7heKbnEQGJgpzMgccuVA3jySTzIIJMdzBY7UEs6NWgXCqZ/HSUSunwkn2QP0HMcUB4+xoI2gvygyPZinHIXPYUTD8kGes8GTMbR5qHt0an8XyWXPdQsa8zUSVlLJ/SRHcQYVVuJO8s8bWSl770nIXGQbKB3baDUc6XC/w8AAP//V4GLvAAAAAZJREFUAwBAgtOOb9LERgAAAABJRU5ErkJggg=="/>
          <p:cNvSpPr>
            <a:spLocks noChangeAspect="1" noChangeArrowheads="1"/>
          </p:cNvSpPr>
          <p:nvPr/>
        </p:nvSpPr>
        <p:spPr bwMode="auto">
          <a:xfrm>
            <a:off x="155575" y="-555625"/>
            <a:ext cx="157162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data:image/png;base64,iVBORw0KGgoAAAANSUhEUgAAAPcAAAC4CAYAAAA/gnrqAAAQAElEQVR4Aey9B5hlR33m/as6994O05NH0mhGGuWIkpWFQCggBAKxCAzYsCzGBoRwYG1215/Xxjbe79l9HHZh1zYW8Jj0YZOTLYQkUM7JKIcVaJQ1GmlmNKG7bzin6nv/59470wozPVJPa/r2raN6T9Wpc06Ft/5vpXOn5c//9tnxvG++OX70G2clJA6SDcwGG/jmWfFj3zr7Ll+EFpsRJ4QnxqfwFo4SF4mLGW4DIeQEadk7B5sBW8IT41M48ZJsoGdsABfLsvoYI12goxtO/hZeEheJi16yAaKELOcFOXXLOrfdxHA75lU6p2wSA4mBHciAxJ0pOXmYb5gYtusENnOTuEhc9IINmIY9dpa4XRvlcG5hXSaXGEgM9CYD0TRcijuoAh24jk/ySRxssYvERW9xUeq4sJHbhuuumLth8/saasxUf8qdmcRDr/LQmZbLlpNLDCQGZhUDSdyzqjlTZRIDWxiQuOVsdp4gVhIXJDuYNXYga3ZbKtPZZQOLS5ghPEBqD0gcwPZy0NGxxG0bJp0NNdcNm5/Qqxspqdx9brsdHUvcHWGnzx2QOEgczCIbkLjVnsklBhIDs46BJO5Z16TTWqGUeA8xIHHLpR1SNVnigWQHs8QOXFkPWXQ7gDVsZ5eN7d2VS89B4gASBzCTOIiStfSs84SdxXKXbcJ1+vkhJA4SB71mA6WOg+Rd7g4WakCD7Zx3fQsnUPKTeJiBPMhmU7tsq100couj5BIDiYFZx0AS96xr0lShxECbAYnbKZTATNoQSWWBxAFMkQOJW677Z4TKXbYMbCmekHhINrC9NjCznuvo2JStgsU2nLxyZ9D8hMRAYqCXGZC4047jtnYc071kHz1nA86+eG3+M0udkbsctVOYxIMGrGQHvWsHaj7ZsEZuCyQkBhIDs4SBzdWQuG2hncAUdybT+8mGZo4NoMPZdqj0bV4CJA4SB7PBBqJ98crKmqhBXRu2zCpHMF0mlxhIDPQ0A57yt9Pt3TU6f8y8HZd2SRMPyQZ60gY6Opa4bbjemUh5o53NhGQHO9oGJO6ennmkwicGEgNbYSCJeyvEpOjEQK8zIHHLlb8tN99gO23mJ1DuN74UDxkx+ueBF1y/8P4rvbZ0u+XopsHz2uulypfi2Grb9Q83qqlTB2VQsPwzSxbuV2y73o3aaoowzm7DS1k2sDfLBoWh5ewxvDt7Dpu/B8uGp4bd5yyjjT3kCyPL5RsUP7KUOX4ONf3ng9pL+13tEgd94wj4KD/GTnu276A7CX3GRaljb92bGUMA2zV33bD5Cbxgo8vVF+FHl3D6ke/nQ2/5FOe97S/46DmfLv3zzv40H3vrpzn/bVPDx9/6F7TxaflK6y1/zseE8882/095zV5Hq9G8JOvwstkoQVs5ndqvC7tO6GP7LXfLAx4ZRUKnc5uEi2qoUs0HWVRdzJLKruxSXcZu2Qp29Xuxi9ubpW4vdp8qsj3ZXent7lfIFzLNDjKlq3yW+b0Zqc7Dey0JQiSEIJHz/MPZZdApoX/tOpbt73VObrsYiBQD64nV52jGZ3HVTTgvuDGcq5P5pq4NDflTgNJyXmn6epkubhyD5eEUF2NOlLCdc7ovkVs7ko7EwIsZSOJ+MSdbiXHkfpiWGyJ3wxrjhTgof0iTd8HVyLUWbjHAVNBkkCbDNJHvBrH8WvLLePlBky3nTNhdbKW4KbrvGZC45WQwJMgYts2FK6r4UKMSq0KGzoIXcxFsNJXnAuUP/V6p77VR5pWGD055daE8ymuPi45tHioDKlGCF039DdXebSGhNBxFYXEJvICHjHEqjEnQhjre1XGaNrenzA0y16TidwDKdOpUlH47vYbSbSh9m6LbT4W3lAwdzgRtUBhSu/U9Bx0dS8lmFRoqNMHUsADma6JJgrgwbibAS1gakk0+SESRjIIKQVNy3KCiakRXnRoY0PtKR12IFvbtNDVVj26AwleIypfuESmbzMpjQEfb1w09mdqwT3koe/uAxB1kEgmwPRyIqhnvokq4PXV5Oc+kZ7fPPmYWTxK3bCG5xEBiYNYxkMQ965o0VSgx0GZA4rZVmrxyLffCsF0nsJkbeuRIbcbmNutfLqRqOVt6a3OI2A0nn5KTF/LgKPepmHgorjSkiXE7M2zleWG5Z9N1qgsvaZsTeCl1nJVPyRJtE0ZwCr7Yei2yD6D6l3Xfmq/NklgRD5ngcd7Lt7DFWViXO8JZ9t10rJE2X5eN072T/MTA1hkoTSUgq9Tnnc07xd2w+f2GuHWyeuqO1aPf2i7VF32UfT6CidssN+pkkFeOXuYnJAYSA73MgEbuXi5+KntiYGcyMLPzlrhtgp4ws5vp5ZYutSflJmd/8yBxy5Wz8+QzKw4z6NSW9LNN20asvn6ZFWwx6e6ye0tMCiUGEgM9yoDErU883d1yNyHcjesrv0db8XnFth6639uxH+s/oc6ljgubu5gxJDxPHz1/kdqz/Wuj/uZBI3fPW3KqQGIgMfASDHTE7SbcmhieEJ2CiYHEQE8xIHHbTyjlaXeNEhPDdq9f4Hqq4bZeWKtHv7RZqielZl/Ig2nY25rbzMTpJNgSpfw+qMvpdjMufdV/xpVpJhfIjGUq2J66TSV9e3d78piFz7z0n1masOPWV7vkVu/ZYgxWD6vPdMLymKooLI1tldHuT3ce28q/h+9t2S2fWAkj1K7N70dM1ZhmyvuvRttNta7bY2evRh6vBlc7Jw+bnE+VwfR+YiAxMAMZSOK2RklIDMxCBiRuuXJfrd/92bKhZvWY7ra0PKaqhsnK+GrkMVkZevu+Sm8kyjOBd3bZKHfMLb7fwCw5dkS7bZ0KW0EWLhK1ceO08ZrFgkpsyYKa2P+gIfoxgm8ITaGl5+yPKdgaG5xszEWvDzhZCa+3fBkHRKXZhdINriAafNsPLqdgAryjqbwLAT3ndNcr7GPAYHnBjuCix9IQnxivEEFElnDdsPn9CFHR825HtdvWiYguEE1wsh2n7JzESqxIm1VZUlUSG5CIM8G3E5HwgpcosyZ5pU6rOkaetciVRu4U7y09CdvpcQnWGZzX+5aGECoQM2KhuNCBrn0+TKUYhjzD/jdMmToGT8SE7RVGpUHXfQenRlHdPTolBFmVESJvZ7sdkr/VZyrYNhdOo6HX6GB+cFC4jJarkbshWsyjiAvwYRDigGCCz7DnbBQOvqVwk1z1zO3/1hJrFLk6hKaebQzj63MYyBcxt1jKwmIZi9mT3Sr7sHxgf/YcOpAVcw5mn3mvYd95h7Ff7RAOmHsoBy45lGprCPt/uUWVzfIK3jqLoFz6FxK36p9cYuBlMOBM2CEr3wgafYtsnFAZJfpRnBMYpVEbp5XVsVE+K6oMtRawoLk7u9T3Zo/8EPapHc4h84/h+OWnc+Yh7+RXj/8Qv3nGJ/jEOX/CH/y7P+X3z/0U/+lX/5xPvuvP+YN3/il/cG4bv/+OT/GJt/8xv3fOH/E77/wk5537u7zvrR9kl5HdNRGtEnUOzlEI4OjnI4m7n1v/FdfdRJNJSAgBfE7mWlRDS6NuLiHrOlQZqcxjl6HlHLTkSF6335n8u6P+PR983Sc4//T/ysfe+Ek+fPrv8YHXfZR3HvN+zjzoHE5cfiqvmX8s+w0exorqQSzN9mFXt4LFYTkL8t1LzG8tZV5ztxIjcSHDzKc5GhivNylUn+BUplLYybTFgJx6O0o40TPxup/CVndVf1a4qbbb9nARxZQ9l+GKQSrNeQxLdEuK/Tliyem854jz+K1T/jMffeN/4gOnnc85x72HEw86lUOWH8keCyXawWUsruzKCAvUIQxRLWpkWrc7pzQ7xY9ae28LXtN6dKxe+wz1oomt4Utxa8R2WpNDprudxEr77pewU72d1dgCnUrHji9y6EswCw5rz5cDtbm1u8HMQe2u5SoGZ/rVdRTMgUbpmGujq5AQnTazKgzlc9mtug+/sudpvO9Nv8tv//qf8x/e8vucdcC7+ZWFr2P/oSPYNVvBSLaYihuEzFFkLWKmTTRnKBQuCBXtgys+rzQxtEq/pfDWkFOESD3k3PvQ/TSo015ng5VXK27AQT+ibMusbE2MjhIubgmLojKur3xVf1a4ydrRJrD2jCpbeiYChTttnWn4y6Rjb9cuJ2rK7WQbmeIHtH4eifPYY2g/XrvnGXzgpI/xu2/6fzTdPo9jlp3AkspCqhp9XRZxEnJU0s5nklhGJRsg84PCMN5VcbYjLnhXwVNBT6jTqJaoaBSvyEi3QHfLuIo+u7Xhlfim5kbuf/o+RqubKHyO1266xdtaP1pnRKTv7FhtheruKVcqhQgwqEXLa/P7DWYEoqHnndVjsrbrVlLPOj3r1PbmyyDMKJpZRqPiyLMG+FGyMEZVwUVxDw5ZdDpnH/1b/NrpH+Vtr30fR+7zepYM700tLsAVQzitgj1D3Qx2kO+UjkHeZhdpasPu/ofvZtPYOqqVTB2EU/5oZkH7mFAnOnXrJ9+3WUjn/mKg2+xR1Y449fSx7NSjxrlAKxsVpGYbTZvzWeT25fi9z+S9p31Y+CAnH3A6++oT1EK3lMHWCJnWy16jupIhc05p7khn6Rnaacby+7UkGgpG/VpuuuNq3EBBiA2JOuIjdGvXfqN/z4mHvm17qUBSRjDBeJeJCYcjoxICw6HGAo3URy8/m18/7b/wjteex2uWH8PiobkMZw6bNmd6VjNufBaQwnE2LXYtdQktpn44JeEF8wGFYgy0UZBrA+3ex2/j6U2P0Iwbddf2AaJmGQ6v6bpX9ayzoY8PsWfkJcwuG5isPYOqK+vXue0cznkcVYhVFrMvRy45lfee8mGJ+tc4eNfDmcsCKnkNr2eizrHcydZI77fAZgBOI6sP7PAjKt0gcTvl22w2abQaXHfH5YSBBllNywpaEnUQ0AhO53Dy+xceNRRkIkHBKHTDZbxd9xNEQ887pxpM1mZ6RE6y1Bmcc2iWS9DUesWKfTnndR/m3JM0Uu92NIsrIwxoypv5Js5riy0OavU6SCGRFbo2BPnR7EYdA5qio1GfHXBIzxqpVUoLaIahC2IIKmfgwQcf5LHVGrXdOI2irjrEMkervdPI7cpLu5qMi1l4P1qdMnzJiBFnAeOiG7brhB5kwKzaRjLz1aDW0F10alOJNQk1UmhDqpVt0midsyAs4tzD3sf5x/4hJ+9xEkuHl2j6PZcsG4FsDtHXBIcNjd5JyhKc/ZZbm+IWhVPaUfFREQZdTs0FvS4hN3ydjX4jTZfjg/1MtcV6VnHhXf9EfXgjQZtmtULrfn2SK1yNeiXSrASiM9O2UimdPnVioGRR1U++SJhlTm0q46dEobrpmkLGv5FIYECiWJDvyYELjuM9b/wtTjjsFIYH5+u5GSAKK4JQ0TJgKA5T1Se4VmiyIa7j6rsv48nmIyqn1WcnQNwxk2HtrXaWuK2HT5ClzCInVWyujRl/UYrZBG1Cz7Xp5SSWkdZuvH7/c3jPiedxhfbJlwAAEABJREFU6OITmRN30UbZoN6UWei8M53NAtB6vlJI3nlVQU/Lj/PA6ju49oHLqM/ZoOIlu0UtuzXs/FZUEyW3oxkwcZvha3qqESZoeuud4hQVg6PWnMucsIRzT/0Abzj0bJbP2Z8R5jLohqn4Ks7p2R1dpJeZXrmBFlRg65vkNf0YT9RX8pPb/oXRbB1RS4qXmWTfPe7BGrILdHTD/ear6rPGSQ1lj45a1+F9pk0oR5YNUsmG2X/wWD745t/msBXHMGdgge6D7b7YWtrFHKK9r7id6Kx/cSp9VD0ajPNU/VF+duePeWr8YdD6u9qsgO4nOHgRD+hwZZOCeSU6u+ZlWLrvK9+Jh9nini/OtlY9hXS7Yo/9+LXTPsr+i45gQKO1iShIJ0VWEHxTBOQyFRsuFdyJzspsM47gCtY31nLDfdfybytvpqg18HlkJJ+j0vWbjb5EfV9Ko9F0nJV3RJJro7QJC+uy79zsqLf9BZKqprNOO+KFq9DKmhLtRmotxwm7vYn3H/mnrFi4D8NuROKuMpBV9BEryhC8RF0ThtTyUrvO0+nse7iLQfkVRAl4C2ysdvgiExzrtHF28yMXctuDl+rZQKU1B6/lw7jPSce2GfBoTQaFnhJcaPtlnIX7Dap+j7soCRTOE30d5+rYhtRgvoT99c36zW94O0tG5ineSSAeZ//Z0M3Ew028mLZwdBFlT9TJ6VOdL5Hhg8dHWaQvWBvXcucj2kC7/Wo2NteDN0GbneYqv4X7zT63s74dHXsQkwnMliNI2Ln9qMS1yGKLOXEuB+9yEuee8hEW+F01WhczoqrRgfb2VBaHKy9kilY0bf7FWLA+X8utT9zIT2+/iHXhGZpZnaBlQ3QSteqG+cluxd/W9StGdT+5WcNA1EiIy8i0kB4qRth7/sGcfcJ7WDa0L0NxDtU4M6oaVIyyKCZswX55VsQGDTaytvGU1tc3SNg/5unGE9g6O/gG0ektA5GoqbySSG4bDPht3JuWWynR6WXAEfGFo9pcwPKhw3nrCe9lrwUrNGJDJuFHpn89vT01dCqLw7dHbe2eBdeg7jaypniKm1ZexaW3/JD1409SHcoJcRzv0HTd4TRtVw0JmqGQjm0y4EFOzd72Xxi2636B2yZRvXJTq21qEsAuGqlff8Q72GvRodSik5TGiJWcnOqMqIpNxV17Xo4USy5xr208zTV3X64R+0LWx1Uqc52iMapZiLok1SkL6p5iRd1XRniezfaLjb68euppB6IRE7mMoB12UMb1m8/OP4zyshQag50u5MpLnZwM3IUBhSRh1yRq0yy6QAg1YjGMD0P4vMbcyiJ+5ZCjOWS/Q6hqxxxrW5cRlZ4GdV6Nw0VwGpEdQYFCeeeCwoCi8Y0c12yp7A3G2MRDzz3MJbdczE33Xc1osZrgR7HB2VcG9cawMICSJHam404ipy9t1MFk9Y72jLdWN8qMdMFaxBoDi+tHMAMO492KYQ1kviF2mtNJMJnUYUINRN+icLlGvUChBjVkDLLXkgM44sCjqKIpuCmpHOX0nlLxLlqCrxJcmY9T2cpdcI3UZVjXpvCo0XosrOeuR27lx9d+jztX3iJhbyD6SPmIXo9WdlfVtdVZybmgk9VBNzE/QQbR4aTDhTM/mLiNrP4EZUfWrXsUQb3goiRqhp1J2A778UmRNQiVJs2iyeK5u3HqkWeypLaUaj6gTWVNzqLVK+q9aIFXBUFFjM5O6lQ0naaEymJ0qwTNgZxntAt+5T0X8+Mb/5mVz/2cenUN9rfOc5lloQ1BPTaJs8QSeJ4db+FDbE/CX7o9oxjwGonLjlnT0qhRzabl3gc02LFweBeOPugk9ll8IINhhJobAn0/lqpVhygg2bjSn+6TTf9LgVu2Bn3iCrRo+jqbwnruW30X37/2W1x198WsCY/RrK2TsDeqD2gRrIhaRkx3GWd7+kncPdbCjkJCjpqeV4SqwhUqGuUGWoPsr82zo/Y5kQE/h4rTWlUjp69q5HSawrsoYaN3eFWOgP6LQRPngDYCJOoxNvm1rNxwD5fe8QN+cM3XuOfJm7F/BGLfsHOVEZ/hnVfZHRVPOqbIgCiUIwEcvXB4icZJMk4jsg9VKoXQzNh9aDnH7HUyuw7tiU2Hg4Zy7b+1p+2uQKtYoobETFp7NeoZyJVni5gVtNw4z+WrueGBK/nGFV/i8gcvZFXzARrZs7T0/To47eDHIVwYxKvQldgiEyYvp9cjCWxFv2LGbSEodsPm9yNExU5y259t1KOR6ASFvKbng2GYvZfsxwHLDqIqkWCN7aB8RtN4dB3Vtk7P29vytu3UCTiBzVBaejF2EAgU6jDMVxCnOXgbek7T70jUgsHRCg3WtZ7m1pXX87WffIGLbvwuT489QtOtp7Bfm2X2pCXqVcIqTnVx6rSscIo1bxJYjRIoB6YJPKitEaMSt9EYoGylbtj8foRomOlOxh9cpJXlEkjASxBLhpdy4J6HMDI0t2xGi/Nq4Ex1ySQzHzV9pwaa8uoFJjuiM9kGomzCwlH5RV2Vvu5Z2O6iPEoUyrZVkIeWRuk6o8VzPLvhF9zyf3+qkfoCvnHD57l//N/YNLiWgnG8/XFU+3wXByBmEnUUCpmoUnWOwlUI27XmjqpKAryAA2fXQfKmI+y+96MMpRecUyGdhBAlCIcvKizfdS9WLN9XjVlhRxy51Ge71oZc0+ZC17H7jzZkJ9Zx2J898mVHE2hWG2yqrWc1T3H/2rv58a0/5OuX/yUX3vKP2ji7lnGv79bZKNG1UKkFK6efpKhR95NtIr5fKSZjWAQntzMZsL9IMjH/oNE3OiTuoHUpzKnOY49d9mfB0C6Ky0AjK1M8PBWlPVDCa4TNtGGX2T/BDBmZYOIOvqVNslE2+bU8UzzObY/fwDev+ApfvPBzXHHfpTw8upoN+jw37iMNwMblqO7Hyh5dUEwUkptOBvx0Jp7S3jEMOCc1S7qWWpAfLKAFsCsiu87fneVab1eZqwm4ROmn3qQ+z3CtjNK30Vl5NUOTRhhnPIyyprmKlRvu5paHr+QH132dC37wP/n25V/hvqf+jWZ1PUVtVM8Ok8cRlXSeJD1Xfc6QwhlRU8agjiGWAldUctPGgEfGguhv+w7K63706YkjauQ2cTuJw2sYXLp4uQS+XOKxn6BCjHZ3alUJmj6HSoNmZROjbg3P5o+xctM93PrU1fzkru/yz9d8nq9e9nd85/ovcf1Dl/Bk6wGaA2uhNqYCjGl0b+L8uCypoSV+ruso3+FUXluvF15nN1kZ7YEExOIrhcQtV4o7U8NYWH55beF+AzP+0CCKczL6CAOVARbNW8xQVSNkobYy8eiBOBHowQm1kqwIuh/UCVg4ak1nCBQK5TTzOmvGn+SXz97NjQ9cwY+u/QZfu/gCvnrpP/Cda77Mpfd8nzufvoFV9YfYmD1DvfocreooRSYx+6YsJ5AVAe/XkPl1ZG6DMK54CV45qIgElT9OKNPWg6qT3iRBFL0MLjTbgqxkTS8a1YJT8AXGYDH9AdV/hlXUTSiSBYPax1HHFy1NmwcY8AsYqA3pi/ImWtkGmpVx6q7OOBuFDYyxntH4HOuLZ1hXrGZtsYo1rVU8XTzBoxLnfetu5/anb+S6Ry7mB7d9hX+87G/4zA//hM9c+Mf8n4s+xTdv/Huuf+QiHtpwO2tbjyrNdRS+Dj7ISjJ5NWpxDrV8RN/bhwmhSu6hWYuEOFcYITAkVMVsRSO31yjuqaoj8qZyHGwTpOOVMGC0inU1RdDrXRSdsPn9hqi6z3znyHCuQsyChLyROx6+kQtv/gY/uPnLfO/WL/C92/6BH9zyOb5389/znRv/jm9d/1n++drP8PUr/4p/vPS/88WL/xv/++I/5m8v+TM+97P/l89f8T/46vV/y0UPfpvrVl/Kva3bWF08ST7QIgwW6jQa5FmT4AuCMztBR2k98qfijO/Jbcy24hJeCU/RRm4juQtrLAubnzBTGLBpdrcsTuKOGvVMaJuKDTyw6k5u+MVlXPfQT7j6oR9x9S//lWt/cSnX/fKn3LjyZ9z8yJXc/uS13PXszTy44eesHL2L9WufZGzDavLGRlxRJ4u5ZgO59sgdlQAm5IZrUv56rJITMsHlGq0DQecdYyE7JhXSsRUGool7K/dS9IxgwLnuKNkRg107TwigZTMxdxRNiC0vVKA5hGsswAvmG+L4POLYvHZ8a6EezlS3DFd2FG3fazZA8Jjv85qm2TWtnSu4HA2cEdf5D3UsMSouuRnPgKblToVMEAk94qIE6KhSY/HQ7rzhqLP54Jt/hw+96ZP85hv/c4kPnflJPnjGf+QDp/0e7zvlt3n3Sedx7nG/ydmHv583HvxuDj/gFA7a6yRW7HI4SxccwKI5Kxip7cpwZSE1N4+5YRFz6gsYGB+m1hzQGrmqkd2Xa2bUseDMXqZKl6WRANPHgQe5BNo8yJtp7kWjpCbGGjp9rJI1B1k+sj9HLn8dRy89nWN3PYtjdzuDY5edxPF7vJ4TV7yBk/c5jdMPfjNvOuxtvPWoc3n7ce/mN479Qz5y4h9x/imf4vdO+zN+57Q/4bff8Ed87PV/yG8c9zucdfg5nHjQazl0+WHssWBPFtTmqzOpEPRdvdBOeLdIXY3bssFg1JlvsPC20Xt217aRHij383fLO83QbbXOZfJ2LgOaARNcJJYqcmUfXzhtdFVsg2ucRms99cZ6FVJzZz1TNp9GVuc9Bu8zfY5SJ+CqWk/XqLgBagzq05lnuFZl/uCIRu0lLJ27J/vuciiHLjuGY/c7lTcd8S7eddyH+MDr/4APn/FnfOSMT/P+kz7JWw56L0cvPIFdi92ptmr4ZqGp+yZqfoPEv5EsbzIUR6jmC2hlBXnWoMjGCNkm8Jtw2sn36pgqRaU9C1DJk5s+BjwEpd6B6/gT4/oqLCpmuHM4jaAB5xzNvMG6DWsYb42pA8jLkntXets8OefK951z5XPOtX27cM5RyQaoVecyMrSYxXOXseeSAzli3xM44/i38+tv+wgf/9X/wodO+QSn7PUO9h08nqHxFVSLXfHZHMbdOPXKBrJiUFP5IVwYFAaIcZBgUPeSuwrqspRdSJgOfZU6LpC4rb9PkJX1hHOdJitcQZHlPKtd73WbnqWIDYmnJRGZYJjiEUvx+5hp97yqzbVBBsI8RuJi5sddWTawL8ftcRrvft1H+K23/ld+4y1/xKmveQ97LzyCBZUlDLtBaq0K1byidzOykOGiKwVtO/FW7lgaYFQ5ExAz0wEvdpPrJQYkEu880UVCpeCZDat4es0TBJqagpuwDVOrUCRXAg3Q5zBcQaa8qjiqWsvVYgVJnpBleD/MvMGlHLjbsZx55Lv4D2/4uEb0j3P2Ae9k34UrmNPSDKDuqOSRCkrHK00/CuU0PScdr5yB7XnTb89D6ZmZxIBDOiPaj0qyFms2PcOTax6jGccleBPMDhC3U8eBxhJlFdHIquvoA+MvfsYAABAASURBVJanoVC+5Tdw38LJgqp6boQ57Fbbk4MWHcNZWrN/6M3n8+/P/AgHLjqKecUuDLbmaiSvSeQZsciJQemSjulkQE2TKf0udKl+mb6EEw8z3zmN3EjdJrqgUbVwLY3cT7Fm3TPEmJd3mOLh4oDSGSKGmqb7FY3jmY275FJy7oynTNP0KlX1I5XQ0kIhB5XDOoCsUsNlQ8xvHSRhn8wH3vofee9ZH+fQPV7LiF+u7+8SeVggCxsAvbkFXRtMPmJnajAd+5Jdkeza6BiOLvrQGQczq9pOg5tTmzjtMKMRVJcU2vlGm1T2Z4t9dOSDDR6x34mvvlejdxMf1LCKR/KkPOytLsqI7T+JEtugU4qloWSalmf6BOcFnmeADpyX8/Jd6dcqkTm1OczLduPQpa/lHSd/mPeeej7H7/UmdmFvdRyDtIBCCFFnwamYTnlETf1jmb4i2Bb0cnIvZqBs/1LcRl7QA4ITtHqjL2E8iIYZ5px7foGiFOAkXK8G9CpyVJs9N/YcK596iPVj64gazXVbL+mmzpQX3TAv44h6cyLQteXcBlawLiR9Z+JG9xRnewJUC1w1ah8go+JqzK8tYr+lB3PmSW/l3DPew2uWHclwvoBKaxAfNVXXtD/4psrfxLkcV8qeSY6g+wm8UK+yCes2/fNvxA5Z5u9QKN1eSE/FnOHOlUZfqJQRJ4Fjo7qE8eSzj/LAY3fRzLRh5ZrYRhhlo6MjE5wQBRODvGl2hcoUzMhcJFO2WZEx4uaxW20Zh+52FO875cO88/j3sXxw71LgBCdhF0TfkrAbQr4dJVTCJLAVDiTu7eAwPTKDGChKw7dR20vcsYjktHiu/iz3P3EXa8efUFOP67NYXbqXWEz8Zv96qzQCV15Me30KTauD8gyd/Cuablf0aayWDzIc57OYZbx2/zN47xkf5LgDT2G+30W76oNk+mxmRtleikx7MWd1BsbjrK7grKucpt3OIAl76dRrQI66bvpxnnhuJXc+eCt5GJOwbfSO8jsM6NlO6FXxHBWcBO26+aqcZcbl9D2TiKsMMZe9Fx3CW455F2cf/R72HD6EgdZCTToG9WhFSG4qDHi0XkoQDRplpkLkq/duUFZBwomCI3MZPgNXC6yrr+a+lXfw1KpHcD5QjtRl+yq42Vn85otpC2TaFHMmcOfQohqpmZgFCpWrpV6pVS0I8mthDrtV9uGEvc/gHSe+n32XHEFsDROpMfnh9UgCZRu/mAfFuC0EaZpH+aBT3KzFNuqmWzvdGe9WiGinDrbEWRMZgkQTnSdoWu71zdhpcm4bUo8/9xjX3HMD65qj5ErC1rsumKBbFJJMS4LrJDrtXllqlVO9ENZ3WrlRGSj/rarKpAe8bmTa4R/x8zlw90N5x+vexev3fwMj+VwKp84AW16MqX/I1T9kuGAjeiRq861MVO8nX0RO5KEk2puSZQGIaIPrhs3vR7DzD6O9LIUFBLny0k4ydvOCmi2YsOVbE5q4sR+GuILRuJG7V9/Nrb/4N+qxSRFyvVKo6Qv5qJV96U/3SdtjykIilJijcjc4+Vbeispd1Ywjk69qYP2NyxzVWGPPeXty1lFv4dTD3siIX6i4Kl71Kr+jy4/WWShlqwlKOyGKjRego2OPmjvBOjcjSDz1uqvkrM+f4NZ7r2Ll6geoV1oEm7czQCZxVW3UnAl1lFBx6njML8tj0q+qhMMsmLuckw89k3MO+1XmN3aD5gAtH6hXx8kr43raUdXGnAKTOGvX/oWfhJ10u8cYCK5Fq7KBVWMPcektP+KZ+hPUvU3J0ZTWaWprxs4MOKwzDdh3+jZ0rWHcM6iBfA6Lqss5YY/TOEubbXPYXePPAKoAaPkhnePzmsLJbYsBv62b6d60M7DDMyj/DXfF02A9T264n0tu+j6r9XlsnDqtoKl5uf7e4dm+ggTN9DySNG1xdzodRbjotcauMlJbzJH7ncwZR7+dhXEpg80hfS5zZV7Rt/3yIp1ekgExLEcXRlg33G++1f0lOeqpyKjvxPabcKlAI/ZqHlx1C1fd9hM2tNYRXNAm1QypjnbTiZkKY7ybsAuiy3GdaXpwkVYlMGdwMcfvfzqnHPBm5o4vYC4jGsWDpufqqPT2tl2/2XC3vsapM1VboBMZOz4W14+g9w/tPMdWBec9ua8zFtdy1y9v5JpbfkrD1bWDHokaHQ3WwnbhUITQPpexrxIPE+3NslTZVA6pl5jlFNWA11R94cASTjz4FIn8FIqNHvtCYPftjW3D6tKHKHWc4dvkRHmCE0pyddl3zure+5V2smXvMkKoUrgKDT/ORv8UN//iUn583bfYEJ8lJ6iVNVpqmu4KjYD6nOaiSdzpHYiWyLRTYXxHLF+nUdxFbaYJaNvP8ndUGWSIAXVSNU3Bl4zswQmHv51lC45iKJuHVK4SRsGcUzp+MygHJ3R07yvYT85ZvYOJW41LF2rwzeFuXL/4cZY0fw4asTEB69NSkECKSpVR/XfzL6/kolv/ibVjj9JyG2lFPavtKzSVJ3fYRlUlBolk5nHhbASfv5jTX/8m5lUWUNNuuaNbTo34Th1WB6juW9Av9juxnkG2HEzc8pObPQzIwHENnHpvGw2DBN7QHLxRG2ND9SlufPhivn/FV3ly00M0KmOauheEqOoLttx1RZC4gyJ2vlMVUGGI7QBVP8CyRXtw4hFvoFafh5P52m/Qo+qnC7YIWpXRVb873+8EzM76O5B9m+FrhUpFgo8+J1SbNLMx7n3253z1ogv4xdq7WO+epVWrE7V5pe9kWoJrBNS7O5sX1WBzEcriaKmQUWPB4K4cc8BJ7LXgAIm92l5/S9xOU/eolwyko2RA4hYjJJRszIJT1Jo1aLWKfK/VdUZdoQY23c6KGq4YYnTOKI83HuGbP/syNz3wU30LX8m4e44mDcgq4GUWM4ALV5ZBU275pcC1WViNQ8zNFvHG499MaEGtMqC7jhDUKSlUPid7dgJ9DrWinJofTXEod9nsul9B7x/6vBRj2+A9hUTdEFrYwFwpBsnyEcYr4zQHGzzbfJLLb76QS679IY+u/iX10FB3oLE+ohFcotKIaFPeF+JVIGlCFipMuYZ2aPBW55QxwBB7Ld2fgw88hCJXd+Yz3ZPNOnTYSbAhvF/tuax3ZooWHzaHM0+cmJfQwwxoCl7+DltNWzAosc4V5pC7Krl9XqrUmTe6hFprUJ+aWqwZWMWNq67ga1d8nuvuuYQ1Y/bHFuvkIadoNvF5jteOuo9QSF0NjeoNpwvXwvLBaVPOFQoLpQjZQYfyMLvUDrrXvkGmy6oKUdXEouJHmFPdi3P2+wQLm3PUca3FaePA5yO2siD6UVqVlny9tINK04vJeMoGCSp7gkiYBc4Mettt6fxzOL9Jda2Db1FkDda1nuCSW77Nd676HHc9cQtr87XUqy0aUlXwHhyoe2Ag1qnZLrsER4kqaLZA9GAPbbYnpu1wzuFUpl0WLWH/vV5DzIexz39SOLgIzyvHtrlgc3ln0XPWwVOgFjEyEphVx7baM+BcAyejdhJkjBUKbUY1qg1Gh9dx95ob+e41X+Rfb/o69zx9K8/mT1OX+HMzmIBGcYODCVlEmwKbKSlVSn/6yXTKwmuycNxRZzAnW0Zseuk6V7nsTqa7CqqOdu5X+JKFdOojBmT8YUgi1WhXjMgfkSiGJIMauUTerEXW+4e584lL+P7VX+BH132NOx6/iTWtZxinpW/jGUXZKQSCvonbenyLeLo0+m5gWv2a8yxfdBBLFx7CQEX10WjlrIMJNcr+xu2Q7Hs2EbWCMdCF1aMb7jff6j5bMEnb2XRam6hawpLFQmvWgJdQnY26GskDUTvno6zLn9AU/Tq+efkFfPWSv+Wmh69mdXiK8eoGot8AWtsWbNLTDZCwdJJzHcibZpepzLW4gMMPOlnZy5TRyG110AICU3e0AnTL009+u95iRK4kxHybzpjfj7DGN1KmgtKappLAVt/V3nV7gGSyPKwe226/oHU2ro53o2RuQ4kKCscWlRg1ms+BoBE98+S1TYxVn+IX627huxrJv3ThZ/jZTT/g4cfuZePoKo3e9tdWG+A0R7ayWfEMTPehcqqqrhhg7+UHMVAb0pitMkjUttSI9LMtW90dZgUgWkqUjSLG6MfD6r0tZNSa82TDw5qWVgi2O1s0qBR1fCjI9WqUYbnC6ZkpQKNROw01UHASGTjLS+FK+b++dURb/1I2FlgTlhtaVX2+qmp6rfcUuy0XnKNwFZV5gBzVR7Bv4yaIKFsofECflAnaqY75AEHT3CKLjNc28sj4PVzy4Hf44vWf5Ss3fI4f3/Nd7lx1M8+OP0ErjBNbAdeEIF6IDRShkuYqW6GyBeyc65s0waleQlR9lKflG8pygXEZVIE2D3rmJTn1FGGAYVewx8Awe48cROZ2pamye3Lmjs+jKuErmf5z0arszTKMRvV4ol1sK9bCFpcAEzkoaFZGhSbjvqDuIiHLiPrGWmh+W7igNWtBnuVTR6W5OY0iKyiUZuHb6do/hVQjvcC5F1xPLPdLhe35rcGSChJkxw5cxG2G0lLdm77O6mIV96y+i5/ddQlfv/zLfP4n/4evXX0B16/+KQ/7e7U6HxPqbcFrd90pRS8hV0JGVbBd+pDVCX4c3LjyGJcxjlPRyr4qeGcciNPspVEoPlNn4JS2WoEVy3cnU9m8Nv/wY6C2wrXgeW2o8vf29fbVx1k9C/Ep0kkQaXFSOBl1dDmyUQqNfIWNbKJQto/X2hUj1SmZVwwrg95HCVii8qKMMWL/SXDR7hvsGYMeMO95sPuT4XkvvMTFtt+PKlteCbTsU9ngGM9VnmFl836uf+KnfOWqv+Uvv/cnXPCj/8W/6tParY9fy0Pr7+Xp5mOsD6s1+V/HuJYCddWpISk3qZKLx0KzA2ykLQbB/lFIoU9sL1GyblRZQm3sebVDFjOWLtldbeDQniBRHWHIWkRrD8on6Ucb96p1ctvJwFxNAwc0Z6zJmHxo945OovYaozTJ1Xo14CXGV46o9xE6flQ4Ol3LBzLBnHPOPMxzuDL8ap68Rt6BfIhqLgFq5u3ERQgKZE0KjZjjfh131W/ioge/y9euvYDP/+x/8YWf/U++cuXf8b3bvsqlD/6QWx+9hgeevouH1/1fnhp9hDXNVTxXPMPGsFbiX0+TUdC03inUhddIvBnifLxS0Kqo/pUB5s3flZqfTyy08x+H1GHUJGvdo3+PJO6X0/YSdkVrusdXP8C9+jx012PXcPvjwmM38PPHbubnj97I7Y9cvwWPXs8dj97wCqF3HzNcx+2ddG7X9fqxNVoDhxJl0afFfredqFeHUisyiTujJqFXCq+pdoUseO1BCAHqg5toDG5gdGAtq+Nj/GLD3dz5zA1c+9AlXHTnt/j+DZ/lW1f/BV+/7M/4/y7/NF+/6r/xT9f8d75141+rA/jfXHj7l7j89n/hqrt+zPX3X8JND17Gzx9SeTssAAAFJklEQVS5psTt6hhu14zgtqev4rbHjZ9beWzNI9i3+KDRvNxQ0xeBqDB9fHg2jwsKprBMYes8jGp92Jxb55I7f8hXrvgsn7/iL/mHK/6azyn8D5f9PRdc/hnF/c0WXP43ivvrl4m/0vOG7rvyL7M0/oovXPE33P3w7YSiwGsnu/zGrNFdhZ7gnMJbrwNlG+uRbTqnu1tPw6a7LY3Quf2TUa2bC98k+Jamw4X8oBEThhrDDDaHGchrWEdQsRQ1ywlxXBtho6zP17Bao/Wq5lOs3LCS+9Y8wB2r7+XGx27nygdv5OL79J397q/x7Z9/ia/f/AW+qs27L175Gdr4bOl/5fL/oY7hr/nnSz7Lv1zxZTbmTxAqG1WOcXCaSWDH1utBycXsva+aOTEgzyqqKSDmq2dmh8DBbEonG9RkUAZcaxAG6rTkG/LqGPnAc+QarfIBC08F40rLMCq/izFayi8fUL7VQFObSLl21YPonQhrvrbWdWMaeY9Ku3Be+w4ZQb4hao1g8e329vhQwembuTNf8KHavlYcGu2dGwKGBfl+SB1CjaCFR5D9BaWVa93cqo1jyOUbjIPWwDgN8d3ING3PWiVH40MbaSg+ukKzh0zwSjegYkJ5ml4+Zlwe0eqrNtDCBkRrCRc7YfMTkMlNhBmqlwEadXbLx4xMxprJgGTmeFHmNBXc0fDK0/Jyyk8KQZkSlVl0kReivI8KMq1wyqYqdASscrkSXnEGR/AawZ2hXUZpFrM5KxkSr3NKQzB+9TSOQu/meqzVQcBpmu8m8hn0juK84owTpw7DpuGFuNAt2W6GV5xXm6BUwHLrQ8guIBgDQaQkGBmTQ1TtdDcT2ipuBwtTLef25DFZMaZaht5+309GT7qfGEgM9CYDfSTu3mygVOrEwCtlQOKWs9l5gjicjAs9stPdZGV8Ne677WBhquXYnjwmK8ZUy9Db76v0RqI8E7fteJiv7Q0S4EUcMAMOa6+ZgMmo2BFlnCyPye7viDL0YBodHUvVtnHR2Tjo7LLRr7uMk9Z7MmN6Ne5be80ETFbXHVHGyfKY7P6OKEMPptHRscTdEba2zkmQtbwafKQ8kq1Nvw1I3LLn5BIDiYFZx0AS96xr0lShxECbAYm7BzcMXrTRlepA4gQSBzCBA4lbjgwMsRs2P4Hyy8Fs5yHVb9a1c0fH1rISdmdH0ClY7hibn5AYSAz0JAOljoMNTRN37QrVZeJ1Cqdd3WQDvWcDpuNo4o4SdBcKliN39zr5JD5kFMkOessO1GSy28603C4SEgM7m4GU/45kQOK2CXoCE3YZUzjZw2ywAYlbzmbnCZA4SBzMBht4/m652tScLa3MT0gMJAZ6ngEN20GV6MB1/PQb8y2cJC76lIse1kKp48LmIDZcJ/TWbmhqr9Rek9uARm51zMklBhIDs46BJO5Z16SpQomBNgMSd+d35fbbcpull/7EuBQmcSJrSXaw8+zg5XIvWUvLdlbDuTbKP89iYV0mlxhIDPQmA6WOveSNLcw7O4PlLpuFLS4hbdokG+hJGyh1XO6Wm5i7sMbshpNP+gymkSvZQe/Zgek42sit9ksuMZAYmHUMdNbcO7heKbnEQGJgpzMgccuVA3jySTzIIJMdzBY7UEs6NWgXCqZ/HSUSunwkn2QP0HMcUB4+xoI2gvygyPZinHIXPYUTD8kGes8GTMbR5qHt0an8XyWXPdQsa8zUSVlLJ/SRHcQYVVuJO8s8bWSl770nIXGQbKB3baDUc6XC/w8AAP//V4GLvAAAAAZJREFUAwBAgtOOb9LERgAAAABJRU5ErkJggg=="/>
          <p:cNvSpPr>
            <a:spLocks noChangeAspect="1" noChangeArrowheads="1"/>
          </p:cNvSpPr>
          <p:nvPr/>
        </p:nvSpPr>
        <p:spPr bwMode="auto">
          <a:xfrm>
            <a:off x="307975" y="-403225"/>
            <a:ext cx="157162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377" y="654276"/>
            <a:ext cx="1017857" cy="3600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935" y="590932"/>
            <a:ext cx="748458" cy="4234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596" y="654276"/>
            <a:ext cx="784897" cy="3975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42" y="654276"/>
            <a:ext cx="949276" cy="35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7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endParaRPr lang="en-US" dirty="0"/>
          </a:p>
          <a:p>
            <a:pPr marL="0" indent="0" fontAlgn="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06135"/>
            <a:ext cx="10972800" cy="56356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916271"/>
              </p:ext>
            </p:extLst>
          </p:nvPr>
        </p:nvGraphicFramePr>
        <p:xfrm>
          <a:off x="481693" y="686028"/>
          <a:ext cx="11446330" cy="5704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266"/>
                <a:gridCol w="2289266"/>
                <a:gridCol w="2289266"/>
                <a:gridCol w="2289266"/>
                <a:gridCol w="2289266"/>
              </a:tblGrid>
              <a:tr h="37783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mPokket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Paytm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Kiva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61217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and student-friendly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but crowded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and polished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and purpose-focused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59541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 Support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website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website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and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website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83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Size (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67.6 MB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345.7 MB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357.6 MB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53.9 MB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9934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Process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Apply, KYC, approval and repayment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Apply, select lender, receive and repay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Paperless application and repayment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borrower, fund and track repayment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61217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Features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OTP, KYC and bank linking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checking, e-sign and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autopay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KYC, AI and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autopay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Crowd funding and partner verification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4459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Advantage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loans for students and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freshers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Loans, payments and reports in one app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and completely digital process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micro-borrowers through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crowdfunding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4459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Drawback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loan limit and payment-update delays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application with too many services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application and unclear risk rules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Borrowers cannot apply directly through the app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783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Rating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4.2/5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4.7/5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4.5/5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4.9/5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081" y="717115"/>
            <a:ext cx="902890" cy="3374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939" y="686026"/>
            <a:ext cx="961254" cy="3674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392" y="683701"/>
            <a:ext cx="642294" cy="3720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471" y="683702"/>
            <a:ext cx="972050" cy="37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6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Income, existing obligations, loan amount, and repayment period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factors in evaluating micro-loan risk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complete borrower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necessary for consistent eligibility and approval decisions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rule-based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suitable for our prototype because historical loan data is not yet available for machine learning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Repayment history and missed instalments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indicators of increasing default risk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Post-loan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necessary to identify overdue payments and potential defaults at an early stage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scoring or default prediction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our project manages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loan lifecycle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system.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studies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or location-specific datasets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their results may not apply to all micro-loan borrowers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credit-scoring models require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historical loan and repayment 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 models can produce accurate predictions, but their decisions may be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explain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studies focus mainly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eligibility and default prediction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covering the complete loan lifecycle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attention is given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repayment scheduling, online payments, notifications, and report generation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models use personal or alternative data, creating concerns related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privacy, security, and consent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04434"/>
            <a:ext cx="10902044" cy="569096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micro-loan 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cause delays, inconsistent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decisions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inaccurate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repayment tracking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provide separate registration and login access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Borrowers can create profiles, enter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and employment details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apply for loans, and track their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status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will perform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eligibility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income, loan amount, existing obligations, employment, and repayment capacity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review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information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results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approving or rejecting loan applications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 loans, the system will generate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repayment schedules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record payments, and calculate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outstanding balances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dashboard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monitor active loans, repayment history,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overdue instalments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default cases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143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743578"/>
              </p:ext>
            </p:extLst>
          </p:nvPr>
        </p:nvGraphicFramePr>
        <p:xfrm>
          <a:off x="609600" y="1192530"/>
          <a:ext cx="10972800" cy="292608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=""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09500"/>
              </p:ext>
            </p:extLst>
          </p:nvPr>
        </p:nvGraphicFramePr>
        <p:xfrm>
          <a:off x="655410" y="987878"/>
          <a:ext cx="10926990" cy="5244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495"/>
                <a:gridCol w="5463495"/>
              </a:tblGrid>
              <a:tr h="47422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Provided by Our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770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 details are handled manually or stored in different places.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MySQL database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stores borrower profiles, applications, loans, and repayments.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770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Borrowers cannot easily track their loan application.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Borrower Portal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displays application status as pending, approved, or rejected.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44577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Eligibility decisions may be inconsistent.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rule-based evaluation checks income, loan amount, existing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obligations, employment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repayment capacity.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9120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Reviewing applications manually takes time.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Dashboard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borrower details and risk results together for faster review.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9120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Repayment dates and remaining amounts are difficult to track.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automatically creates a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repayment schedule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calculates the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outstanding balance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91204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Missed instalments may not be noticed immediately.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Unpaid instalments are automatically marked as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overdue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after their due date.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88053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High-risk loans are difficult to identify.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Loans with repeated missed payments are flagged as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default cases 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administrator action.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36864"/>
            <a:ext cx="11089821" cy="5445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Approach: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design-and-development methodology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and evaluate a working micro-loan lifecycle management system.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Definition: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findings from the completed literature and application review into clear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borrower, administrator, loan, repayment, payment, notification, and reporting requirements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Formulation: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eligibility rules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income, employment status, existing obligations, requested amount, loan tenure, and repayment capacity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Modelling: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architecture, ER diagram, UML diagrams, database schema, and user-interface 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implementation.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Development: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the system in stages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Spring Boot REST APIs, and MySQL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each module tested after implementation.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Lifecycle Implementation: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loan application, evaluation, approval, repayment scheduling, online payment, overdue detection, default flagging, notifications, and report generation.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Evaluation: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completion time, eligibility-rule consistency, repayment-calculation accuracy, overdue detection, security, usability, and response 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12372"/>
            <a:ext cx="10937772" cy="52502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React.js, HTML, CSS, and JavaScript for developing the Borrower Portal and Administrator Dashboard.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with Spring Boot for authentication, loan processing, eligibility evaluation, repayments, and default monitoring.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Communication: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 APIs for exchanging borrower, loan, approval, and repayment data between the frontend and backend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for storing users, borrower profiles, loan applications, risk results, repayment schedules, and payment records.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for React development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 or Eclipse for Spring Boot development.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Tools: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Postman for testing backend APIs and web browsers for testing the complete user workflow.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maintaining individual member branches, reviewing changes, and merging approved work into the main branch.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=""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865414"/>
            <a:ext cx="10311493" cy="5829300"/>
          </a:xfrm>
        </p:spPr>
      </p:pic>
      <p:sp>
        <p:nvSpPr>
          <p:cNvPr id="3" name="Title 2">
            <a:extLst>
              <a:ext uri="{FF2B5EF4-FFF2-40B4-BE49-F238E27FC236}">
                <a16:creationId xmlns=""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=""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 And UML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05" y="1012371"/>
            <a:ext cx="5385226" cy="4694465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786" y="1012372"/>
            <a:ext cx="6397345" cy="456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91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05" y="897529"/>
            <a:ext cx="11005287" cy="53563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Access and Session Management: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borrower/admin registration, login, logout, role-based access, and active user sessions.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Profile Management: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personal details, employment information, monthly income, and existing financial obligations.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Application and Tracking: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loan submission and displays the application status as pending, approved, or rejected.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and Loan Approval: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rule-based risk evaluation and allows the administrator to approve or reject applications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Repayment and Default Management: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repayment schedules, updates outstanding balances, detects overdue instalments, and flags potential defaults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loan repayments through UPI, debit/credit cards, and net banking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Management: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application updates, payment confirmations, due-date reminders, and overdue alerts through email, SMS,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Report Generation: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loan performance and generates borrower, repayment, overdue, and default reports in PDF and Excel formats.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456079" cy="52018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Exists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Loan Application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Existing platforms allow borrowers to apply for loans online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Checking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Many applications evaluate eligibility using internal criteria that are not clearly explained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Platforms provide approval or rejection, but the detailed decision process is usually hidden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Repayment Tracking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Existing applications display instalment dates, payment history, and outstanding amounts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Reminders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Some platforms notify borrowers about upcoming or missed repayments.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06" y="893034"/>
            <a:ext cx="10759534" cy="52018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Our Project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Proposes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Rule-Based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Clearly evaluates income, obligations, requested amount, and repayment capacity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Eligibility Result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Shows which rules affected the borrower’s eligibility instead of providing only a decision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Loan Lifecycle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Connects application, evaluation, approval, repayment, overdue tracking, and default monitoring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and Admin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separate but connected portals for borrowers and administrators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Default Identification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Flags repeated missed instalments as potential defaults for timely administrator action.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06" y="893034"/>
            <a:ext cx="10759534" cy="520181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Loan Management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Borrowers should be able to register, create profiles, submit applications, and track loan status successfully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Eligibility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Applications with the same financial conditions should receive the same rule-based eligibility result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Approval Workflow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Administrators should be able to review borrower details and approve or reject applications efficiently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Repayment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The system should correctly generate instalment schedules, record payments, and calculate outstanding balances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Overdue and Default Detection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Missed instalments should be marked as overdue, while repeated missed payments should be flagged as potential defaults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Loan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The dashboard should provide accurate information about pending applications, active loans, repayments, overdue accounts, and default risks.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7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06" y="893034"/>
            <a:ext cx="10759534" cy="520181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make micro-loan processing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structured, and easier to monitor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application, eligibility evaluation, approval, repayment tracking, and default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system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borrowers track their loans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enables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to make consistent decisions and monitor repayments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 Credit Scoring: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risk prediction using historical borrower and repayment 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Credit-Bureau Integration: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 credit history using external credit-information services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suspicious borrower information, applications, and payment activities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Multilingual Support: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mobile application that supports multiple regional languages.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2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2"/>
            <a:ext cx="11155306" cy="55782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Bennouna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Tkiouat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(2019). Scoring in microfinance: Credit risk management tool—Case of Morocco.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Procedia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Science, 148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522–531.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https://doi.org/10.1016/j.procs.2019.01.025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Cubiles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-De-La-Vega, M. D., Blanco-Oliver, A.,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Pino-Mejías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&amp; Lara-Rubio, J. (2013). Improving the management of microfinance institutions by using credit scoring models based on statistical learning techniques.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Applications, 40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(17), 6910–6917.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https://doi.org/10.1016/j.eswa.2013.06.031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Verbeke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Sercu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Baesens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(2012). Credit scoring for microfinance: Is it worth it?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Finance &amp; Economics, 17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103–123.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https://doi.org/10.1002/ijfe.444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Serrano-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Cinca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Gutiérrez-Nieto, B., &amp; Reyes, N. M. (2016). A social and environmental approach to microfinance credit scoring.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Cleaner Production, 112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3504–3513.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https://doi.org/10.1016/j.jclepro.2015.09.103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Ruiz, S., Gomes, P., Rodrigues, L., &amp; Gama, J. (2019). Credit scoring for microfinance using behavioral data in emerging markets.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Data Analysis, 23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(6), 1355–1378.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https://doi.org/10.3233/IDA-184239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Medina-Olivares, V., Calabrese, R., Dong, Y., &amp; Shi, B. (2022). Spatial dependence in microfinance credit default.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Forecasting, 38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1071–1085.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https://doi.org/10.1016/j.ijforecast.2021.05.009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Kassim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H. J., &amp; Rahman, M. (2018). Handling default risks in microfinance: The case of Bangladesh.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Research in Financial Markets, 10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363–380.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https://doi.org/10.1108/QRFM-03-2017-0018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Dorfleitner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Oswald, E. M. (2016). Repayment behavior in peer-to-peer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microfinancing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Empirical evidence from Kiva.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Financial Economics, 30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45–59.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https://doi.org/10.1016/j.rfe.2016.05.005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Dorfleitner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Just-Marx, S.,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Priberny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(2017). What drives the repayment of agricultural micro loans? Evidence from Nicaragua.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Quarterly Review of Economics and Finance, 63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89–100.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https://doi.org/10.1016/j.qref.2016.02.009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Y., Yang, M., Wang, Y., Li, Y.,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Xiong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&amp; Li, A. (2022). Applying machine learning algorithms to predict default probability in the online credit market: Evidence from China.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Review of Financial Analysis, 79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101971.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https://doi.org/10.1016/j.irfa.2021.101971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Dong, Y., Gou, Q.,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(2023). Big tech credit score and default risk: Evidence from loan-level data of a representative microfinance company in China.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Economic Review, 81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102010.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https://doi.org/10.1016/j.chieco.2023.102010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Djeundje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B., Crook, J., Calabrese, R., &amp; Hamid, M. (2021). Enhancing credit scoring with alternative data.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Applications, 163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113766.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https://doi.org/10.1016/j.eswa.2020.113766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</TotalTime>
  <Words>2534</Words>
  <Application>Microsoft Office PowerPoint</Application>
  <PresentationFormat>Widescreen</PresentationFormat>
  <Paragraphs>299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Bookman Old Style</vt:lpstr>
      <vt:lpstr>Calibri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Review of literature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Proposed Research / Methodology</vt:lpstr>
      <vt:lpstr> Software Requirements</vt:lpstr>
      <vt:lpstr> ER Diagram</vt:lpstr>
      <vt:lpstr>System Architecture  And UML Diagram</vt:lpstr>
      <vt:lpstr> Proposed Modules</vt:lpstr>
      <vt:lpstr> Novelty of the Proposed Idea / Project</vt:lpstr>
      <vt:lpstr> Novelty of the Proposed Idea / Project</vt:lpstr>
      <vt:lpstr>Expected Results and Discussion</vt:lpstr>
      <vt:lpstr> Conclusion &amp; Future Directions</vt:lpstr>
      <vt:lpstr> References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harapriyadas76@gmail.com</cp:lastModifiedBy>
  <cp:revision>47</cp:revision>
  <cp:lastPrinted>2020-11-26T03:04:06Z</cp:lastPrinted>
  <dcterms:created xsi:type="dcterms:W3CDTF">2008-12-05T06:42:08Z</dcterms:created>
  <dcterms:modified xsi:type="dcterms:W3CDTF">2026-09-26T04:01:00Z</dcterms:modified>
</cp:coreProperties>
</file>